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E2D4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2926080" cy="292608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 · CRYPTANALYSE · RÉSEAUX DE NEURONES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Attaques d'extraction &amp; défenses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réseaux profonds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au-delà de ReLU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Voler les paramètres d'un réseau en boîte noire — et s'en protéger.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5029200"/>
            <a:ext cx="201168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Séminaire de thèse · Tidiane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entraîné = un actif à voler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Coûteux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Données, calcul, expertise : un modèle vaut cher. Ses paramètres sont de la propriété intellectuelle.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331720"/>
            <a:ext cx="640080" cy="64008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MLaaS, n'importe qui peut interroger le modèle : entrée → sortie, des millions de fois.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31720"/>
            <a:ext cx="640080" cy="64008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Vulnérable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assez de requêtes bien choisies, on peut reconstruire les poids exacts. C'est l'extraction.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l'attaquant : la HAUTE FIDÉLITÉ — un clone qui calcule la même fonction.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FONDATRICE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réseau ≈ un chiffrement par blocs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PAR BLOCS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 linéaire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clé SECRÈTE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S-box PUBLIQUE (non linéaire)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linéaire  W·x + b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POIDS SECRETS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activation PUBLIQUE (ReLU…)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Reconstruire les poids  ↔  retrouver la clé. On emprunte les outils de la cryptanalyse différentielle.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neurone = un hyperplan + une activation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468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w·x + b</a:t>
            </a:r>
            <a:endParaRPr lang="en-US" sz="2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σ(z)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w·x + b = 0  définit un HYPERPLAN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l'espace d'entrée.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chaque neurone = un hyperplan. Toutes les attaques cherchent à les localiser.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0F1A30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0" y="4937760"/>
            <a:ext cx="4389120" cy="-237744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2926080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2743200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0" y="3200400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3383280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411480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0" y="448056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0" y="466344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0" y="393192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 w·x+b = 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DE 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la non-linéarité est indispensable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activation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Empiler des couches linéaires = une seule fonction linéaire. Le réseau ne sait tracer que des droites → incapable de séparer des données complexes.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activation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casse la linéarité. Le réseau devient une fonction courbée, expressive, capable d'apprendre des frontières complexes.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difficulté de l'extraction vient de cette non-linéarité — et de SA FORME.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SUJET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grandes familles d'activations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PAR MORCEAUX LINÉAIRE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· Leaky ReLU · PReLU · HardTanh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8288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4206240"/>
            <a:ext cx="1463040" cy="-100584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segments de droite + des COUDES.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réseau AFFINE PAR MORCEAUX → attaque facile.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LISSE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Sigmoïde · tanh · GELU · SiLU · SELU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4254314"/>
            <a:ext cx="310896" cy="-25999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68896" y="4228315"/>
            <a:ext cx="310896" cy="-39634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4188681"/>
            <a:ext cx="310896" cy="-57811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4130870"/>
            <a:ext cx="310896" cy="-79110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4051760"/>
            <a:ext cx="310896" cy="-99303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3952457"/>
            <a:ext cx="310896" cy="-111977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23376" y="3840480"/>
            <a:ext cx="310896" cy="-111977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34272" y="3728503"/>
            <a:ext cx="310896" cy="-99303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45168" y="3629200"/>
            <a:ext cx="310896" cy="-79110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56064" y="3550090"/>
            <a:ext cx="310896" cy="-57811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3492279"/>
            <a:ext cx="310896" cy="-39634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77856" y="3452645"/>
            <a:ext cx="310896" cy="-25999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courbe douce, AUCUN coude.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affine par morceaux → attaque classique CASSE.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L'ATTAQUANT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Raw-output  vs  Hard-label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RAW-OUTPUT (logits)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→ [réseau] → [ 2.7,  -0.4,  1.1 ]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voit TOUT le vecteur de scores.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riche → attaques plus faciles.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Réalisme : moyen.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HARD-LABEL (étiquette)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→ [réseau] → "classe 0"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32461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voit SEULEMENT la classe gagnante.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Presque plus d'information → attaque dure.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Réalisme : élevé — le cœur de ma thèse.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critique : la cassure de pente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0" y="19202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0F1A30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0" y="5486400"/>
            <a:ext cx="4297680" cy="0"/>
          </a:xfrm>
          <a:prstGeom prst="line">
            <a:avLst/>
          </a:prstGeom>
          <a:noFill/>
          <a:ln w="19050">
            <a:solidFill>
              <a:srgbClr val="273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377440"/>
            <a:ext cx="0" cy="3108960"/>
          </a:xfrm>
          <a:prstGeom prst="line">
            <a:avLst/>
          </a:prstGeom>
          <a:noFill/>
          <a:ln w="19050">
            <a:solidFill>
              <a:srgbClr val="273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4297680"/>
            <a:ext cx="210312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4297680"/>
            <a:ext cx="2011680" cy="-155448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4187952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critique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(le long d'un segment)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entrée où un neurone vaut exactement 0 (avant activation).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ReLU bascule → la pente de la sortie change BRUTALEMENT.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ce saut de pente révèle les poids du neurone : sa signature.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HARD-LABEL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de transition : la frontière de décision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0" y="19202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0F1A30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0" y="2377440"/>
            <a:ext cx="2103120" cy="3017520"/>
          </a:xfrm>
          <a:prstGeom prst="rect">
            <a:avLst/>
          </a:prstGeom>
          <a:solidFill>
            <a:srgbClr val="2DD4B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377440"/>
            <a:ext cx="2468880" cy="3017520"/>
          </a:xfrm>
          <a:prstGeom prst="rect">
            <a:avLst/>
          </a:prstGeom>
          <a:solidFill>
            <a:srgbClr val="FB7185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377440"/>
            <a:ext cx="0" cy="3017520"/>
          </a:xfrm>
          <a:prstGeom prst="line">
            <a:avLst/>
          </a:prstGeom>
          <a:noFill/>
          <a:ln w="38100">
            <a:solidFill>
              <a:srgbClr val="FBBF2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5440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hard-label, plus de cassure de pente visible.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on détecte où la CLASSE PRÉDITE change (A → B).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 trouve par recherche binaire sur un segment.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tels points → on reconstruit la géométrie cachée.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étapes pour extraire une couche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du vecteur de poids (à un facteur près). Via les points critiques / de transition.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377440"/>
            <a:ext cx="640080" cy="64008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2461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 + ou − du facteur. Exponentiel chez Carlini 2020 → polynomial chez Canales-Martínez 2024.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77440"/>
            <a:ext cx="640080" cy="64008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828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Peeling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« retire » la couche extraite et on recommence sur la suivante.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équivalence fonctionnelle — le clone calcule la même fonction (à symétries près).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 ans de progrès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0332720" cy="0"/>
          </a:xfrm>
          <a:prstGeom prst="line">
            <a:avLst/>
          </a:prstGeom>
          <a:noFill/>
          <a:ln w="25400">
            <a:solidFill>
              <a:srgbClr val="2739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2578608"/>
            <a:ext cx="329184" cy="32918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737360" cy="237744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3337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Carlini et al.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97764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cryptanalytique (raw-output, ReLU)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578608"/>
            <a:ext cx="329184" cy="329184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87168" y="3200400"/>
            <a:ext cx="1737360" cy="237744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96896" y="3337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Canales-Martínez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96896" y="397764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 signe POLYNOMIALE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47488" y="2578608"/>
            <a:ext cx="329184" cy="329184"/>
          </a:xfrm>
          <a:prstGeom prst="ellipse">
            <a:avLst/>
          </a:prstGeom>
          <a:solidFill>
            <a:srgbClr val="FBBF24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4256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34256" y="3200400"/>
            <a:ext cx="1737360" cy="237744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43984" y="3337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43984" y="397764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HARD-LABEL (temps exponentiel)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94576" y="2578608"/>
            <a:ext cx="329184" cy="329184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81344" y="3200400"/>
            <a:ext cx="1737360" cy="237744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91072" y="3337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Carlini et 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91072" y="397764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Hard-label POLYNOMIAL (best paper)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41664" y="2578608"/>
            <a:ext cx="329184" cy="329184"/>
          </a:xfrm>
          <a:prstGeom prst="ellipse">
            <a:avLst/>
          </a:prstGeom>
          <a:solidFill>
            <a:srgbClr val="FB7185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28432" y="3200400"/>
            <a:ext cx="1737360" cy="237744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38160" y="3337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&amp; Santos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38160" y="397764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de sortie + contractif (ton article)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588752" y="2578608"/>
            <a:ext cx="329184" cy="32918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875520" y="3200400"/>
            <a:ext cx="1737360" cy="237744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985248" y="3337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· NTU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85248" y="3977640"/>
            <a:ext cx="1517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ReLU (raw-output)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TOURNANT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Au-delà de ReLU : ce qui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A non-ReLU (PReLU, ELU…)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un coude → points critiques OK.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coude ≠ 0, pente α à estimer, parfois 2 coudes.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surprise : ça fuit des DEUX côtés → signe plus facile.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349240" cy="3840480"/>
          </a:xfrm>
          <a:prstGeom prst="roundRect">
            <a:avLst>
              <a:gd name="adj" fmla="val 2143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B lisse (sigmoïde, GELU…)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coude → aucun point critique.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 (raw-output) : dérivées d'ordre supérieur.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ces dérivées exigent la sortie continue…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absente en hard-label. → le grand trou.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5029200" cy="5029200"/>
          </a:xfrm>
          <a:prstGeom prst="ellipse">
            <a:avLst/>
          </a:prstGeom>
          <a:solidFill>
            <a:srgbClr val="FB7185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CENTRALE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Personne ne sait extraire un réseau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LISSE en HARD-LABEL.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attaques « au-delà de ReLU » sont en raw-output. Les attaques hard-label sont en ReLU. Croiser les deux = ma contribution principale.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5120640"/>
            <a:ext cx="2194560" cy="3657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303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remplacer la courbure de la sortie par la courbure de la frontière de décision.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 marche : résultats de mes TP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657600"/>
          </a:xfrm>
          <a:prstGeom prst="roundRect">
            <a:avLst>
              <a:gd name="adj" fmla="val 225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récupérées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|cos| = 1.000000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directions de poids de la couche 1 récupérées exactement, en ~2900 requêtes.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657600" cy="3657600"/>
          </a:xfrm>
          <a:prstGeom prst="roundRect">
            <a:avLst>
              <a:gd name="adj" fmla="val 225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hard-label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écart ≈ 1e-13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3794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transition trouvés pile sur la frontière de décision, par recherche binaire.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29000" cy="3657600"/>
          </a:xfrm>
          <a:prstGeom prst="roundRect">
            <a:avLst>
              <a:gd name="adj" fmla="val 24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 « par morceaux » vs « lisse » classées automatiquement d'après la courbure.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L'AUTRE MOITIÉ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défendre : « Train to Defend 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L'attaque marche d'autant mieux que les neurones d'une couche sont distincts. Donc : on entraîne pour les rendre SIMILAIRES (régularisation). L'attaque ne peut plus les séparer.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532120" cy="3749040"/>
          </a:xfrm>
          <a:prstGeom prst="roundRect">
            <a:avLst>
              <a:gd name="adj" fmla="val 2195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mon TP7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normal   →  5 / 5 neurones séparés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défendu  →  3 / 5 seulement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&lt; 1 % de précision, zéro surcoût à l'inférence.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quasi vierge : une seule défense publiée → opportunité majeure hors ReLU.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286000"/>
            <a:ext cx="5486400" cy="5486400"/>
          </a:xfrm>
          <a:prstGeom prst="ellipse">
            <a:avLst/>
          </a:prstGeom>
          <a:solidFill>
            <a:srgbClr val="1E2D4D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Voler un réseau, et le protéger —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il dépasse ReLU.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Hard-label = le cadre réaliste et difficile.</a:t>
            </a:r>
            <a:endParaRPr lang="en-US" sz="18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ReLU = le trou que personne n'a comblé.</a:t>
            </a:r>
            <a:endParaRPr lang="en-US" sz="18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+ défense lisses en hard-label = ma thèse.</a:t>
            </a:r>
            <a:endParaRPr lang="en-US" sz="18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déjà testées (signatures, frontière, défense).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— questions 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Séminaire — Extraction de DNN au-delà de ReLU</dc:title>
  <dc:subject>PptxGenJS Presentation</dc:subject>
  <dc:creator>Tidiane</dc:creator>
  <cp:lastModifiedBy>Tidiane</cp:lastModifiedBy>
  <cp:revision>1</cp:revision>
  <dcterms:created xsi:type="dcterms:W3CDTF">2026-06-18T05:51:34Z</dcterms:created>
  <dcterms:modified xsi:type="dcterms:W3CDTF">2026-06-18T05:51:34Z</dcterms:modified>
</cp:coreProperties>
</file>