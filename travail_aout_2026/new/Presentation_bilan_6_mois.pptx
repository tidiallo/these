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Rappeler en 30 secondes. Le directeur connaît le sujet : ne pas s'attarder. Insister sur le fait que les deux volets restent la colonne vertébrale, même si le positionnement à l'intérieur va évoluer.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cadrage. Poser le référentiel avant d'annoncer l'écart. Une minute maximum.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 À PERSONNALISER. Remplace les trois chiffres et les quatre axes par ce que tu as réellement fait. Si tu n'as pas encore fait tourner le code, dis-le franchement et indique où tu bloques : un directeur préfère un blocage identifié à un flou.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clé à faire passer : la technique de la couche de sortie n'utilise JAMAIS le fait que les couches cachées sont ReLU. Elle n'utilise que l'égalité des logits au point de transition et l'invariance de softmax. C'est le germe de notre premier résultat — le dire ici prépare la slide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importante. Le contraste 6h30 / &lt;1s est l'observation la plus exploitable de l'article : quasiment tout le coût est dans la recherche de points de transition. C'est ce qui justifie l'idée de défense présentée en slide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Moment charnière de la présentation. Ton ton doit être analytique, pas défaitiste. Message : j'ai vu venir le problème à 6 mois, pas à 24 mois. C'est exactement le rôle d'une première année.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 pas lire ligne par ligne. Faire ressortir deux choses : (1) tout le « au-delà de ReLU » est en raw-output ; (2) une seule publication existe côté défense. Ces deux observations pilotent la slide suivante.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 slide de la présentation. Si le directeur ne retient qu'une chose, c'est cette matrice. Insister : la case vide n'est pas vide par hasard, elle est vide parce qu'elle est dure — et c'est précisément ce qui la rend défendable comme sujet de thèse.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A comme la contribution principale, B comme le pari le plus original, C comme le complément théorique. Préciser que C n'est pas un lot séparé : il irrigue A et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Résultat modeste mais sûr : il ne fait pas un article à lui seul, il fait une section. Son vrai intérêt est de délimiter précisément le verrou et de nous forcer à écrire le code qui servira ensuite. Le présenter comme tel, sans le survendre.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Insister sur la dernière ligne : la stratégie est conçue pour produire un résultat publiable dans les deux cas, succès comme échec. C'est ce qui rend le pari acceptable pour une thèse. Première expérience de validation : réseau 2D à 4 neurones, tracé de la frontière — une semaine de travail pour savoir si l'intuition tient.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Anticiper la question du directeur sur les attaques adaptatives : moyennage sur voisinage, régression robuste, vote entre points proches. Le déterminisme par PRF bloque la répétition de requête mais pas le vote sur voisins — c'est le travail d'année 2, et il faut le dire avant qu'on nous le demande. Comparaison obligatoire avec Train to Defend (défense à l'entraînement) : la nôtre agit au déploiement, donc les deux sont composables.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valider les critères d'arrêt du WP3 par le directeur DÈS MAINTENANT. Si aucun signal n'est visible en 2D pour GELU, on bascule sur WP4. Poser cette règle à l'avance évite de s'entêter trois mois.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des demandes concrètes. La mise en relation avec les auteurs est le point le plus important et le moins coûteux : un doctorant isolé dans un domaine à quatre équipes concurrentes a besoin d'un canal informel.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Terminer sur la décision demandée, pas sur un remerciement mou. Le directeur doit repartir avec une question claire à trancher : valide-t-on le recentrage sur hard-label × activations lisses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6766560" y="-1371600"/>
            <a:ext cx="4206240" cy="4206240"/>
          </a:xfrm>
          <a:prstGeom prst="ellipse">
            <a:avLst/>
          </a:prstGeom>
          <a:solidFill>
            <a:srgbClr val="065A82"/>
          </a:solidFill>
          <a:ln w="12700">
            <a:solidFill>
              <a:srgbClr val="333333"/>
            </a:solidFill>
            <a:prstDash val="solid"/>
          </a:ln>
        </p:spPr>
      </p:sp>
      <p:sp>
        <p:nvSpPr>
          <p:cNvPr id="3" name="Shape 1"/>
          <p:cNvSpPr/>
          <p:nvPr/>
        </p:nvSpPr>
        <p:spPr>
          <a:xfrm>
            <a:off x="7772400" y="2926080"/>
            <a:ext cx="2377440" cy="2377440"/>
          </a:xfrm>
          <a:prstGeom prst="ellipse">
            <a:avLst/>
          </a:prstGeom>
          <a:solidFill>
            <a:srgbClr val="1C7293"/>
          </a:solidFill>
          <a:ln w="12700">
            <a:solidFill>
              <a:srgbClr val="333333"/>
            </a:solidFill>
            <a:prstDash val="solid"/>
          </a:ln>
        </p:spPr>
      </p:sp>
      <p:sp>
        <p:nvSpPr>
          <p:cNvPr id="4" name="Text 2"/>
          <p:cNvSpPr/>
          <p:nvPr/>
        </p:nvSpPr>
        <p:spPr>
          <a:xfrm>
            <a:off x="502920" y="1051560"/>
            <a:ext cx="603504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Rapport d'avancement — 6 mois</a:t>
            </a:r>
            <a:endParaRPr lang="en-US" sz="1200" dirty="0"/>
          </a:p>
        </p:txBody>
      </p:sp>
      <p:sp>
        <p:nvSpPr>
          <p:cNvPr id="5" name="Text 3"/>
          <p:cNvSpPr/>
          <p:nvPr/>
        </p:nvSpPr>
        <p:spPr>
          <a:xfrm>
            <a:off x="502920" y="1508760"/>
            <a:ext cx="6126480" cy="1737360"/>
          </a:xfrm>
          <a:prstGeom prst="rect">
            <a:avLst/>
          </a:prstGeom>
          <a:noFill/>
          <a:ln/>
        </p:spPr>
        <p:txBody>
          <a:bodyPr wrap="square" lIns="0" tIns="0" rIns="0" bIns="0" rtlCol="0" anchor="ctr"/>
          <a:lstStyle/>
          <a:p>
            <a:pPr indent="0" marL="0">
              <a:lnSpc>
                <a:spcPts val="3600"/>
              </a:lnSpc>
              <a:buNone/>
            </a:pPr>
            <a:r>
              <a:rPr lang="en-US" sz="3000" b="1" dirty="0">
                <a:solidFill>
                  <a:srgbClr val="FFFFFF"/>
                </a:solidFill>
                <a:latin typeface="Cambria" pitchFamily="34" charset="0"/>
                <a:ea typeface="Cambria" pitchFamily="34" charset="-122"/>
                <a:cs typeface="Cambria" pitchFamily="34" charset="-120"/>
              </a:rPr>
              <a:t>Attaques d'extraction et défenses</a:t>
            </a:r>
            <a:endParaRPr lang="en-US" sz="3000" dirty="0"/>
          </a:p>
          <a:p>
            <a:pPr indent="0" marL="0">
              <a:lnSpc>
                <a:spcPts val="3600"/>
              </a:lnSpc>
              <a:buNone/>
            </a:pPr>
            <a:r>
              <a:rPr lang="en-US" sz="3000" b="1" dirty="0">
                <a:solidFill>
                  <a:srgbClr val="FFFFFF"/>
                </a:solidFill>
                <a:latin typeface="Cambria" pitchFamily="34" charset="0"/>
                <a:ea typeface="Cambria" pitchFamily="34" charset="-122"/>
                <a:cs typeface="Cambria" pitchFamily="34" charset="-120"/>
              </a:rPr>
              <a:t>pour les réseaux de neurones profonds</a:t>
            </a:r>
            <a:endParaRPr lang="en-US" sz="3000" dirty="0"/>
          </a:p>
          <a:p>
            <a:pPr indent="0" marL="0">
              <a:lnSpc>
                <a:spcPts val="3600"/>
              </a:lnSpc>
              <a:buNone/>
            </a:pPr>
            <a:r>
              <a:rPr lang="en-US" sz="3000" b="1" dirty="0">
                <a:solidFill>
                  <a:srgbClr val="FFFFFF"/>
                </a:solidFill>
                <a:latin typeface="Cambria" pitchFamily="34" charset="0"/>
                <a:ea typeface="Cambria" pitchFamily="34" charset="-122"/>
                <a:cs typeface="Cambria" pitchFamily="34" charset="-120"/>
              </a:rPr>
              <a:t>au-delà de ReLU</a:t>
            </a:r>
            <a:endParaRPr lang="en-US" sz="3000" dirty="0"/>
          </a:p>
        </p:txBody>
      </p:sp>
      <p:sp>
        <p:nvSpPr>
          <p:cNvPr id="6" name="Shape 4"/>
          <p:cNvSpPr/>
          <p:nvPr/>
        </p:nvSpPr>
        <p:spPr>
          <a:xfrm>
            <a:off x="502920" y="3401568"/>
            <a:ext cx="1371600" cy="0"/>
          </a:xfrm>
          <a:prstGeom prst="line">
            <a:avLst/>
          </a:prstGeom>
          <a:noFill/>
          <a:ln w="25400">
            <a:solidFill>
              <a:srgbClr val="E8A33D"/>
            </a:solidFill>
            <a:prstDash val="solid"/>
          </a:ln>
        </p:spPr>
      </p:sp>
      <p:sp>
        <p:nvSpPr>
          <p:cNvPr id="7" name="Text 5"/>
          <p:cNvSpPr/>
          <p:nvPr/>
        </p:nvSpPr>
        <p:spPr>
          <a:xfrm>
            <a:off x="502920" y="3611880"/>
            <a:ext cx="5943600" cy="10972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Tidiane DIALLO</a:t>
            </a:r>
            <a:endParaRPr lang="en-US" sz="1400" dirty="0"/>
          </a:p>
          <a:p>
            <a:pPr indent="0" marL="0">
              <a:buNone/>
            </a:pPr>
            <a:r>
              <a:rPr lang="en-US" sz="1200" dirty="0">
                <a:solidFill>
                  <a:srgbClr val="C7D3E8"/>
                </a:solidFill>
                <a:latin typeface="Calibri" pitchFamily="34" charset="0"/>
                <a:ea typeface="Calibri" pitchFamily="34" charset="-122"/>
                <a:cs typeface="Calibri" pitchFamily="34" charset="-120"/>
              </a:rPr>
              <a:t>Directeur : Pr. Abdoul Aziz Ciss</a:t>
            </a:r>
            <a:endParaRPr lang="en-US" sz="1400" dirty="0"/>
          </a:p>
          <a:p>
            <a:pPr indent="0" marL="0">
              <a:buNone/>
            </a:pPr>
            <a:r>
              <a:rPr lang="en-US" sz="1200" dirty="0">
                <a:solidFill>
                  <a:srgbClr val="C7D3E8"/>
                </a:solidFill>
                <a:latin typeface="Calibri" pitchFamily="34" charset="0"/>
                <a:ea typeface="Calibri" pitchFamily="34" charset="-122"/>
                <a:cs typeface="Calibri" pitchFamily="34" charset="-120"/>
              </a:rPr>
              <a:t>École Polytechnique de Thiès — EDPT — LTISI / CRISIN'2D</a:t>
            </a:r>
            <a:endParaRPr lang="en-US" sz="1400" dirty="0"/>
          </a:p>
          <a:p>
            <a:pPr indent="0" marL="0">
              <a:buNone/>
            </a:pPr>
            <a:r>
              <a:rPr lang="en-US" sz="1200" dirty="0">
                <a:solidFill>
                  <a:srgbClr val="E8A33D"/>
                </a:solidFill>
                <a:latin typeface="Calibri" pitchFamily="34" charset="0"/>
                <a:ea typeface="Calibri" pitchFamily="34" charset="-122"/>
                <a:cs typeface="Calibri" pitchFamily="34" charset="-120"/>
              </a:rPr>
              <a:t>Août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138160" cy="219456"/>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RAPPEL DU SUJET</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La question de recherche</a:t>
            </a:r>
            <a:endParaRPr lang="en-US" sz="3000" dirty="0"/>
          </a:p>
        </p:txBody>
      </p:sp>
      <p:sp>
        <p:nvSpPr>
          <p:cNvPr id="4" name="Shape 2"/>
          <p:cNvSpPr/>
          <p:nvPr/>
        </p:nvSpPr>
        <p:spPr>
          <a:xfrm>
            <a:off x="502920" y="1207008"/>
            <a:ext cx="8138160" cy="1078992"/>
          </a:xfrm>
          <a:prstGeom prst="roundRect">
            <a:avLst>
              <a:gd name="adj" fmla="val 5085"/>
            </a:avLst>
          </a:prstGeom>
          <a:solidFill>
            <a:srgbClr val="EAF1F6"/>
          </a:solidFill>
          <a:ln w="12700">
            <a:solidFill>
              <a:srgbClr val="EAF1F6"/>
            </a:solidFill>
            <a:prstDash val="solid"/>
          </a:ln>
        </p:spPr>
      </p:sp>
      <p:sp>
        <p:nvSpPr>
          <p:cNvPr id="5" name="Text 3"/>
          <p:cNvSpPr/>
          <p:nvPr/>
        </p:nvSpPr>
        <p:spPr>
          <a:xfrm>
            <a:off x="731520" y="1325880"/>
            <a:ext cx="7680960" cy="868680"/>
          </a:xfrm>
          <a:prstGeom prst="rect">
            <a:avLst/>
          </a:prstGeom>
          <a:noFill/>
          <a:ln/>
        </p:spPr>
        <p:txBody>
          <a:bodyPr wrap="square" lIns="0" tIns="0" rIns="0" bIns="0" rtlCol="0" anchor="ctr"/>
          <a:lstStyle/>
          <a:p>
            <a:pPr indent="0" marL="0">
              <a:lnSpc>
                <a:spcPts val="2100"/>
              </a:lnSpc>
              <a:buNone/>
            </a:pPr>
            <a:r>
              <a:rPr lang="en-US" sz="1450" i="1" dirty="0">
                <a:solidFill>
                  <a:srgbClr val="21295C"/>
                </a:solidFill>
                <a:latin typeface="Cambria" pitchFamily="34" charset="0"/>
                <a:ea typeface="Cambria" pitchFamily="34" charset="-122"/>
                <a:cs typeface="Cambria" pitchFamily="34" charset="-120"/>
              </a:rPr>
              <a:t>Dans quelle mesure peut-on extraire les paramètres d'un réseau de neurones profond moderne, au-delà de ReLU, en ne disposant que d'un oracle hard-label — et quelles défenses réduisent cette vulnérabilité sans dégrader les prédictions ?</a:t>
            </a:r>
            <a:endParaRPr lang="en-US" sz="1450" dirty="0"/>
          </a:p>
        </p:txBody>
      </p:sp>
      <p:sp>
        <p:nvSpPr>
          <p:cNvPr id="6" name="Shape 4"/>
          <p:cNvSpPr/>
          <p:nvPr/>
        </p:nvSpPr>
        <p:spPr>
          <a:xfrm>
            <a:off x="502920" y="2542032"/>
            <a:ext cx="3931920" cy="1572768"/>
          </a:xfrm>
          <a:prstGeom prst="roundRect">
            <a:avLst>
              <a:gd name="adj" fmla="val 3488"/>
            </a:avLst>
          </a:prstGeom>
          <a:solidFill>
            <a:srgbClr val="F4F6F9"/>
          </a:solidFill>
          <a:ln w="12700">
            <a:solidFill>
              <a:srgbClr val="F4F6F9"/>
            </a:solidFill>
            <a:prstDash val="solid"/>
          </a:ln>
        </p:spPr>
      </p:sp>
      <p:sp>
        <p:nvSpPr>
          <p:cNvPr id="7" name="Shape 5"/>
          <p:cNvSpPr/>
          <p:nvPr/>
        </p:nvSpPr>
        <p:spPr>
          <a:xfrm>
            <a:off x="731520" y="2743200"/>
            <a:ext cx="274320" cy="274320"/>
          </a:xfrm>
          <a:prstGeom prst="ellipse">
            <a:avLst/>
          </a:prstGeom>
          <a:solidFill>
            <a:srgbClr val="1C7293"/>
          </a:solidFill>
          <a:ln w="12700">
            <a:solidFill>
              <a:srgbClr val="333333"/>
            </a:solidFill>
            <a:prstDash val="solid"/>
          </a:ln>
        </p:spPr>
      </p:sp>
      <p:sp>
        <p:nvSpPr>
          <p:cNvPr id="8" name="Text 6"/>
          <p:cNvSpPr/>
          <p:nvPr/>
        </p:nvSpPr>
        <p:spPr>
          <a:xfrm>
            <a:off x="1097280" y="2724912"/>
            <a:ext cx="3108960" cy="310896"/>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Volet vulnérabilité</a:t>
            </a:r>
            <a:endParaRPr lang="en-US" sz="1400" dirty="0"/>
          </a:p>
        </p:txBody>
      </p:sp>
      <p:sp>
        <p:nvSpPr>
          <p:cNvPr id="9" name="Text 7"/>
          <p:cNvSpPr/>
          <p:nvPr/>
        </p:nvSpPr>
        <p:spPr>
          <a:xfrm>
            <a:off x="731520" y="3154680"/>
            <a:ext cx="3520440" cy="868680"/>
          </a:xfrm>
          <a:prstGeom prst="rect">
            <a:avLst/>
          </a:prstGeom>
          <a:noFill/>
          <a:ln/>
        </p:spPr>
        <p:txBody>
          <a:bodyPr wrap="square" lIns="0" tIns="0" rIns="0" bIns="0" rtlCol="0" anchor="ctr"/>
          <a:lstStyle/>
          <a:p>
            <a:pPr indent="0" marL="0">
              <a:lnSpc>
                <a:spcPts val="1600"/>
              </a:lnSpc>
              <a:buNone/>
            </a:pPr>
            <a:r>
              <a:rPr lang="en-US" sz="1150" dirty="0">
                <a:solidFill>
                  <a:srgbClr val="1B2233"/>
                </a:solidFill>
                <a:latin typeface="Calibri" pitchFamily="34" charset="0"/>
                <a:ea typeface="Calibri" pitchFamily="34" charset="-122"/>
                <a:cs typeface="Calibri" pitchFamily="34" charset="-120"/>
              </a:rPr>
              <a:t>Quelles familles de modèles restent exposées : activations alternatives, architectures convolutionnelles, couches contractives ?</a:t>
            </a:r>
            <a:endParaRPr lang="en-US" sz="1150" dirty="0"/>
          </a:p>
        </p:txBody>
      </p:sp>
      <p:sp>
        <p:nvSpPr>
          <p:cNvPr id="10" name="Shape 8"/>
          <p:cNvSpPr/>
          <p:nvPr/>
        </p:nvSpPr>
        <p:spPr>
          <a:xfrm>
            <a:off x="4709160" y="2542032"/>
            <a:ext cx="3931920" cy="1572768"/>
          </a:xfrm>
          <a:prstGeom prst="roundRect">
            <a:avLst>
              <a:gd name="adj" fmla="val 3488"/>
            </a:avLst>
          </a:prstGeom>
          <a:solidFill>
            <a:srgbClr val="F4F6F9"/>
          </a:solidFill>
          <a:ln w="12700">
            <a:solidFill>
              <a:srgbClr val="F4F6F9"/>
            </a:solidFill>
            <a:prstDash val="solid"/>
          </a:ln>
        </p:spPr>
      </p:sp>
      <p:sp>
        <p:nvSpPr>
          <p:cNvPr id="11" name="Shape 9"/>
          <p:cNvSpPr/>
          <p:nvPr/>
        </p:nvSpPr>
        <p:spPr>
          <a:xfrm>
            <a:off x="4937760" y="2743200"/>
            <a:ext cx="274320" cy="274320"/>
          </a:xfrm>
          <a:prstGeom prst="ellipse">
            <a:avLst/>
          </a:prstGeom>
          <a:solidFill>
            <a:srgbClr val="E8A33D"/>
          </a:solidFill>
          <a:ln w="12700">
            <a:solidFill>
              <a:srgbClr val="333333"/>
            </a:solidFill>
            <a:prstDash val="solid"/>
          </a:ln>
        </p:spPr>
      </p:sp>
      <p:sp>
        <p:nvSpPr>
          <p:cNvPr id="12" name="Text 10"/>
          <p:cNvSpPr/>
          <p:nvPr/>
        </p:nvSpPr>
        <p:spPr>
          <a:xfrm>
            <a:off x="5303520" y="2724912"/>
            <a:ext cx="3108960" cy="310896"/>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Volet protection</a:t>
            </a:r>
            <a:endParaRPr lang="en-US" sz="1400" dirty="0"/>
          </a:p>
        </p:txBody>
      </p:sp>
      <p:sp>
        <p:nvSpPr>
          <p:cNvPr id="13" name="Text 11"/>
          <p:cNvSpPr/>
          <p:nvPr/>
        </p:nvSpPr>
        <p:spPr>
          <a:xfrm>
            <a:off x="4937760" y="3154680"/>
            <a:ext cx="3520440" cy="868680"/>
          </a:xfrm>
          <a:prstGeom prst="rect">
            <a:avLst/>
          </a:prstGeom>
          <a:noFill/>
          <a:ln/>
        </p:spPr>
        <p:txBody>
          <a:bodyPr wrap="square" lIns="0" tIns="0" rIns="0" bIns="0" rtlCol="0" anchor="ctr"/>
          <a:lstStyle/>
          <a:p>
            <a:pPr indent="0" marL="0">
              <a:lnSpc>
                <a:spcPts val="1600"/>
              </a:lnSpc>
              <a:buNone/>
            </a:pPr>
            <a:r>
              <a:rPr lang="en-US" sz="1150" dirty="0">
                <a:solidFill>
                  <a:srgbClr val="1B2233"/>
                </a:solidFill>
                <a:latin typeface="Calibri" pitchFamily="34" charset="0"/>
                <a:ea typeface="Calibri" pitchFamily="34" charset="-122"/>
                <a:cs typeface="Calibri" pitchFamily="34" charset="-120"/>
              </a:rPr>
              <a:t>Quelles stratégies rendent l'attaque coûteuse tout en conservant la performance prédictive ?</a:t>
            </a:r>
            <a:endParaRPr lang="en-US" sz="1150" dirty="0"/>
          </a:p>
        </p:txBody>
      </p:sp>
      <p:sp>
        <p:nvSpPr>
          <p:cNvPr id="14" name="Text 12"/>
          <p:cNvSpPr/>
          <p:nvPr/>
        </p:nvSpPr>
        <p:spPr>
          <a:xfrm>
            <a:off x="502920" y="4315968"/>
            <a:ext cx="8138160" cy="274320"/>
          </a:xfrm>
          <a:prstGeom prst="rect">
            <a:avLst/>
          </a:prstGeom>
          <a:noFill/>
          <a:ln/>
        </p:spPr>
        <p:txBody>
          <a:bodyPr wrap="square" lIns="0" tIns="0" rIns="0" bIns="0" rtlCol="0" anchor="ctr"/>
          <a:lstStyle/>
          <a:p>
            <a:pPr indent="0" marL="0">
              <a:buNone/>
            </a:pPr>
            <a:r>
              <a:rPr lang="en-US" sz="1100" i="1" dirty="0">
                <a:solidFill>
                  <a:srgbClr val="5A6478"/>
                </a:solidFill>
                <a:latin typeface="Calibri" pitchFamily="34" charset="0"/>
                <a:ea typeface="Calibri" pitchFamily="34" charset="-122"/>
                <a:cs typeface="Calibri" pitchFamily="34" charset="-120"/>
              </a:rPr>
              <a:t>Objectif annoncé : 3 à 4 publications combinant théorie et expérimentation.</a:t>
            </a:r>
            <a:endParaRPr lang="en-US" sz="1100" dirty="0"/>
          </a:p>
        </p:txBody>
      </p:sp>
      <p:sp>
        <p:nvSpPr>
          <p:cNvPr id="15" name="Text 13"/>
          <p:cNvSpPr/>
          <p:nvPr/>
        </p:nvSpPr>
        <p:spPr>
          <a:xfrm>
            <a:off x="502920" y="4759452"/>
            <a:ext cx="4572000" cy="228600"/>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T. Diallo — Bilan S1 — EPT / EDPT</a:t>
            </a:r>
            <a:endParaRPr lang="en-US" sz="900" dirty="0"/>
          </a:p>
        </p:txBody>
      </p:sp>
      <p:sp>
        <p:nvSpPr>
          <p:cNvPr id="16" name="Text 14"/>
          <p:cNvSpPr/>
          <p:nvPr/>
        </p:nvSpPr>
        <p:spPr>
          <a:xfrm>
            <a:off x="8183880" y="4759452"/>
            <a:ext cx="457200" cy="228600"/>
          </a:xfrm>
          <a:prstGeom prst="rect">
            <a:avLst/>
          </a:prstGeom>
          <a:noFill/>
          <a:ln/>
        </p:spPr>
        <p:txBody>
          <a:bodyPr wrap="square" lIns="0" tIns="0" rIns="0" bIns="0" rtlCol="0" anchor="ctr"/>
          <a:lstStyle/>
          <a:p>
            <a:pPr algn="r" indent="0" marL="0">
              <a:buNone/>
            </a:pPr>
            <a:r>
              <a:rPr lang="en-US" sz="900" dirty="0">
                <a:solidFill>
                  <a:srgbClr val="5A647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138160" cy="219456"/>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CALENDRIER DU PROJET</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Ce qui était prévu pour le semestre 1</a:t>
            </a:r>
            <a:endParaRPr lang="en-US" sz="3000" dirty="0"/>
          </a:p>
        </p:txBody>
      </p:sp>
      <p:sp>
        <p:nvSpPr>
          <p:cNvPr id="4" name="Shape 2"/>
          <p:cNvSpPr/>
          <p:nvPr/>
        </p:nvSpPr>
        <p:spPr>
          <a:xfrm>
            <a:off x="502920" y="1298448"/>
            <a:ext cx="384048" cy="384048"/>
          </a:xfrm>
          <a:prstGeom prst="ellipse">
            <a:avLst/>
          </a:prstGeom>
          <a:solidFill>
            <a:srgbClr val="1C7293"/>
          </a:solidFill>
          <a:ln w="12700">
            <a:solidFill>
              <a:srgbClr val="1C7293"/>
            </a:solidFill>
            <a:prstDash val="solid"/>
          </a:ln>
        </p:spPr>
      </p:sp>
      <p:sp>
        <p:nvSpPr>
          <p:cNvPr id="5" name="Text 3"/>
          <p:cNvSpPr/>
          <p:nvPr/>
        </p:nvSpPr>
        <p:spPr>
          <a:xfrm>
            <a:off x="502920" y="12984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069848" y="1280160"/>
            <a:ext cx="3291840" cy="274320"/>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Revue de littérature</a:t>
            </a:r>
            <a:endParaRPr lang="en-US" sz="1400" dirty="0"/>
          </a:p>
        </p:txBody>
      </p:sp>
      <p:sp>
        <p:nvSpPr>
          <p:cNvPr id="7" name="Text 5"/>
          <p:cNvSpPr/>
          <p:nvPr/>
        </p:nvSpPr>
        <p:spPr>
          <a:xfrm>
            <a:off x="1069848" y="1536192"/>
            <a:ext cx="3840480" cy="274320"/>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Extraction de modèles, activations, défenses</a:t>
            </a:r>
            <a:endParaRPr lang="en-US" sz="1150" dirty="0"/>
          </a:p>
        </p:txBody>
      </p:sp>
      <p:sp>
        <p:nvSpPr>
          <p:cNvPr id="8" name="Shape 6"/>
          <p:cNvSpPr/>
          <p:nvPr/>
        </p:nvSpPr>
        <p:spPr>
          <a:xfrm>
            <a:off x="502920" y="2075688"/>
            <a:ext cx="384048" cy="384048"/>
          </a:xfrm>
          <a:prstGeom prst="ellipse">
            <a:avLst/>
          </a:prstGeom>
          <a:solidFill>
            <a:srgbClr val="1C7293"/>
          </a:solidFill>
          <a:ln w="12700">
            <a:solidFill>
              <a:srgbClr val="1C7293"/>
            </a:solidFill>
            <a:prstDash val="solid"/>
          </a:ln>
        </p:spPr>
      </p:sp>
      <p:sp>
        <p:nvSpPr>
          <p:cNvPr id="9" name="Text 7"/>
          <p:cNvSpPr/>
          <p:nvPr/>
        </p:nvSpPr>
        <p:spPr>
          <a:xfrm>
            <a:off x="502920" y="207568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Text 8"/>
          <p:cNvSpPr/>
          <p:nvPr/>
        </p:nvSpPr>
        <p:spPr>
          <a:xfrm>
            <a:off x="1069848" y="2057400"/>
            <a:ext cx="3291840" cy="274320"/>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Reproduction d'une attaque</a:t>
            </a:r>
            <a:endParaRPr lang="en-US" sz="1400" dirty="0"/>
          </a:p>
        </p:txBody>
      </p:sp>
      <p:sp>
        <p:nvSpPr>
          <p:cNvPr id="11" name="Text 9"/>
          <p:cNvSpPr/>
          <p:nvPr/>
        </p:nvSpPr>
        <p:spPr>
          <a:xfrm>
            <a:off x="1069848" y="2313432"/>
            <a:ext cx="3840480" cy="274320"/>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Attaque existante sur réseaux ReLU</a:t>
            </a:r>
            <a:endParaRPr lang="en-US" sz="1150" dirty="0"/>
          </a:p>
        </p:txBody>
      </p:sp>
      <p:sp>
        <p:nvSpPr>
          <p:cNvPr id="12" name="Shape 10"/>
          <p:cNvSpPr/>
          <p:nvPr/>
        </p:nvSpPr>
        <p:spPr>
          <a:xfrm>
            <a:off x="502920" y="2852928"/>
            <a:ext cx="384048" cy="384048"/>
          </a:xfrm>
          <a:prstGeom prst="ellipse">
            <a:avLst/>
          </a:prstGeom>
          <a:solidFill>
            <a:srgbClr val="1C7293"/>
          </a:solidFill>
          <a:ln w="12700">
            <a:solidFill>
              <a:srgbClr val="1C7293"/>
            </a:solidFill>
            <a:prstDash val="solid"/>
          </a:ln>
        </p:spPr>
      </p:sp>
      <p:sp>
        <p:nvSpPr>
          <p:cNvPr id="13" name="Text 11"/>
          <p:cNvSpPr/>
          <p:nvPr/>
        </p:nvSpPr>
        <p:spPr>
          <a:xfrm>
            <a:off x="502920" y="285292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069848" y="2834640"/>
            <a:ext cx="3291840" cy="274320"/>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État de l'art structuré</a:t>
            </a:r>
            <a:endParaRPr lang="en-US" sz="1400" dirty="0"/>
          </a:p>
        </p:txBody>
      </p:sp>
      <p:sp>
        <p:nvSpPr>
          <p:cNvPr id="15" name="Text 13"/>
          <p:cNvSpPr/>
          <p:nvPr/>
        </p:nvSpPr>
        <p:spPr>
          <a:xfrm>
            <a:off x="1069848" y="3090672"/>
            <a:ext cx="3840480" cy="274320"/>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Cartographie du domaine</a:t>
            </a:r>
            <a:endParaRPr lang="en-US" sz="1150" dirty="0"/>
          </a:p>
        </p:txBody>
      </p:sp>
      <p:sp>
        <p:nvSpPr>
          <p:cNvPr id="16" name="Shape 14"/>
          <p:cNvSpPr/>
          <p:nvPr/>
        </p:nvSpPr>
        <p:spPr>
          <a:xfrm>
            <a:off x="502920" y="3630168"/>
            <a:ext cx="384048" cy="384048"/>
          </a:xfrm>
          <a:prstGeom prst="ellipse">
            <a:avLst/>
          </a:prstGeom>
          <a:solidFill>
            <a:srgbClr val="1C7293"/>
          </a:solidFill>
          <a:ln w="12700">
            <a:solidFill>
              <a:srgbClr val="1C7293"/>
            </a:solidFill>
            <a:prstDash val="solid"/>
          </a:ln>
        </p:spPr>
      </p:sp>
      <p:sp>
        <p:nvSpPr>
          <p:cNvPr id="17" name="Text 15"/>
          <p:cNvSpPr/>
          <p:nvPr/>
        </p:nvSpPr>
        <p:spPr>
          <a:xfrm>
            <a:off x="502920" y="36301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8" name="Text 16"/>
          <p:cNvSpPr/>
          <p:nvPr/>
        </p:nvSpPr>
        <p:spPr>
          <a:xfrm>
            <a:off x="1069848" y="3611880"/>
            <a:ext cx="3291840" cy="274320"/>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Maîtrise pratique</a:t>
            </a:r>
            <a:endParaRPr lang="en-US" sz="1400" dirty="0"/>
          </a:p>
        </p:txBody>
      </p:sp>
      <p:sp>
        <p:nvSpPr>
          <p:cNvPr id="19" name="Text 17"/>
          <p:cNvSpPr/>
          <p:nvPr/>
        </p:nvSpPr>
        <p:spPr>
          <a:xfrm>
            <a:off x="1069848" y="3867912"/>
            <a:ext cx="3840480" cy="274320"/>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Première prise en main des attaques</a:t>
            </a:r>
            <a:endParaRPr lang="en-US" sz="1150" dirty="0"/>
          </a:p>
        </p:txBody>
      </p:sp>
      <p:sp>
        <p:nvSpPr>
          <p:cNvPr id="20" name="Shape 18"/>
          <p:cNvSpPr/>
          <p:nvPr/>
        </p:nvSpPr>
        <p:spPr>
          <a:xfrm>
            <a:off x="5120640" y="1298448"/>
            <a:ext cx="3520440" cy="2788920"/>
          </a:xfrm>
          <a:prstGeom prst="roundRect">
            <a:avLst>
              <a:gd name="adj" fmla="val 1967"/>
            </a:avLst>
          </a:prstGeom>
          <a:solidFill>
            <a:srgbClr val="EAF1F6"/>
          </a:solidFill>
          <a:ln w="12700">
            <a:solidFill>
              <a:srgbClr val="EAF1F6"/>
            </a:solidFill>
            <a:prstDash val="solid"/>
          </a:ln>
        </p:spPr>
      </p:sp>
      <p:sp>
        <p:nvSpPr>
          <p:cNvPr id="21" name="Text 19"/>
          <p:cNvSpPr/>
          <p:nvPr/>
        </p:nvSpPr>
        <p:spPr>
          <a:xfrm>
            <a:off x="5349240" y="1481328"/>
            <a:ext cx="3108960" cy="274320"/>
          </a:xfrm>
          <a:prstGeom prst="rect">
            <a:avLst/>
          </a:prstGeom>
          <a:noFill/>
          <a:ln/>
        </p:spPr>
        <p:txBody>
          <a:bodyPr wrap="square" lIns="0" tIns="0" rIns="0" bIns="0" rtlCol="0" anchor="ctr"/>
          <a:lstStyle/>
          <a:p>
            <a:pPr indent="0" marL="0">
              <a:buNone/>
            </a:pPr>
            <a:r>
              <a:rPr lang="en-US" sz="1100" b="1" spc="100" kern="0" dirty="0">
                <a:solidFill>
                  <a:srgbClr val="1C7293"/>
                </a:solidFill>
                <a:latin typeface="Calibri" pitchFamily="34" charset="0"/>
                <a:ea typeface="Calibri" pitchFamily="34" charset="-122"/>
                <a:cs typeface="Calibri" pitchFamily="34" charset="-120"/>
              </a:rPr>
              <a:t>Livrable envisagé</a:t>
            </a:r>
            <a:endParaRPr lang="en-US" sz="1100" dirty="0"/>
          </a:p>
        </p:txBody>
      </p:sp>
      <p:sp>
        <p:nvSpPr>
          <p:cNvPr id="22" name="Text 20"/>
          <p:cNvSpPr/>
          <p:nvPr/>
        </p:nvSpPr>
        <p:spPr>
          <a:xfrm>
            <a:off x="5349240" y="1783080"/>
            <a:ext cx="3108960" cy="640080"/>
          </a:xfrm>
          <a:prstGeom prst="rect">
            <a:avLst/>
          </a:prstGeom>
          <a:noFill/>
          <a:ln/>
        </p:spPr>
        <p:txBody>
          <a:bodyPr wrap="square" lIns="0" tIns="0" rIns="0" bIns="0" rtlCol="0" anchor="ctr"/>
          <a:lstStyle/>
          <a:p>
            <a:pPr indent="0" marL="0">
              <a:lnSpc>
                <a:spcPts val="2000"/>
              </a:lnSpc>
              <a:buNone/>
            </a:pPr>
            <a:r>
              <a:rPr lang="en-US" sz="1500" b="1" dirty="0">
                <a:solidFill>
                  <a:srgbClr val="21295C"/>
                </a:solidFill>
                <a:latin typeface="Cambria" pitchFamily="34" charset="0"/>
                <a:ea typeface="Cambria" pitchFamily="34" charset="-122"/>
                <a:cs typeface="Cambria" pitchFamily="34" charset="-120"/>
              </a:rPr>
              <a:t>Article de synthèse court</a:t>
            </a:r>
            <a:endParaRPr lang="en-US" sz="1500" dirty="0"/>
          </a:p>
          <a:p>
            <a:pPr indent="0" marL="0">
              <a:lnSpc>
                <a:spcPts val="2000"/>
              </a:lnSpc>
              <a:buNone/>
            </a:pPr>
            <a:r>
              <a:rPr lang="en-US" sz="1500" b="1" dirty="0">
                <a:solidFill>
                  <a:srgbClr val="21295C"/>
                </a:solidFill>
                <a:latin typeface="Cambria" pitchFamily="34" charset="0"/>
                <a:ea typeface="Cambria" pitchFamily="34" charset="-122"/>
                <a:cs typeface="Cambria" pitchFamily="34" charset="-120"/>
              </a:rPr>
              <a:t>ou communication en workshop</a:t>
            </a:r>
            <a:endParaRPr lang="en-US" sz="1500" dirty="0"/>
          </a:p>
        </p:txBody>
      </p:sp>
      <p:sp>
        <p:nvSpPr>
          <p:cNvPr id="23" name="Shape 21"/>
          <p:cNvSpPr/>
          <p:nvPr/>
        </p:nvSpPr>
        <p:spPr>
          <a:xfrm>
            <a:off x="5349240" y="2542032"/>
            <a:ext cx="1097280" cy="0"/>
          </a:xfrm>
          <a:prstGeom prst="line">
            <a:avLst/>
          </a:prstGeom>
          <a:noFill/>
          <a:ln w="25400">
            <a:solidFill>
              <a:srgbClr val="E8A33D"/>
            </a:solidFill>
            <a:prstDash val="solid"/>
          </a:ln>
        </p:spPr>
      </p:sp>
      <p:sp>
        <p:nvSpPr>
          <p:cNvPr id="24" name="Text 22"/>
          <p:cNvSpPr/>
          <p:nvPr/>
        </p:nvSpPr>
        <p:spPr>
          <a:xfrm>
            <a:off x="5349240" y="2724912"/>
            <a:ext cx="3063240" cy="1005840"/>
          </a:xfrm>
          <a:prstGeom prst="rect">
            <a:avLst/>
          </a:prstGeom>
          <a:noFill/>
          <a:ln/>
        </p:spPr>
        <p:txBody>
          <a:bodyPr wrap="square" lIns="0" tIns="0" rIns="0" bIns="0" rtlCol="0" anchor="ctr"/>
          <a:lstStyle/>
          <a:p>
            <a:pPr indent="0" marL="0">
              <a:lnSpc>
                <a:spcPts val="1600"/>
              </a:lnSpc>
              <a:buNone/>
            </a:pPr>
            <a:r>
              <a:rPr lang="en-US" sz="1150" dirty="0">
                <a:solidFill>
                  <a:srgbClr val="1B2233"/>
                </a:solidFill>
                <a:latin typeface="Calibri" pitchFamily="34" charset="0"/>
                <a:ea typeface="Calibri" pitchFamily="34" charset="-122"/>
                <a:cs typeface="Calibri" pitchFamily="34" charset="-120"/>
              </a:rPr>
              <a:t>Le semestre 2 devait porter sur l'analyse théorique des activations alternatives et les premiers prototypes d'attaque.</a:t>
            </a:r>
            <a:endParaRPr lang="en-US" sz="1150" dirty="0"/>
          </a:p>
        </p:txBody>
      </p:sp>
      <p:sp>
        <p:nvSpPr>
          <p:cNvPr id="25" name="Text 23"/>
          <p:cNvSpPr/>
          <p:nvPr/>
        </p:nvSpPr>
        <p:spPr>
          <a:xfrm>
            <a:off x="502920" y="4759452"/>
            <a:ext cx="4572000" cy="228600"/>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T. Diallo — Bilan S1 — EPT / EDPT</a:t>
            </a:r>
            <a:endParaRPr lang="en-US" sz="900" dirty="0"/>
          </a:p>
        </p:txBody>
      </p:sp>
      <p:sp>
        <p:nvSpPr>
          <p:cNvPr id="26" name="Text 24"/>
          <p:cNvSpPr/>
          <p:nvPr/>
        </p:nvSpPr>
        <p:spPr>
          <a:xfrm>
            <a:off x="8183880" y="4759452"/>
            <a:ext cx="457200" cy="228600"/>
          </a:xfrm>
          <a:prstGeom prst="rect">
            <a:avLst/>
          </a:prstGeom>
          <a:noFill/>
          <a:ln/>
        </p:spPr>
        <p:txBody>
          <a:bodyPr wrap="square" lIns="0" tIns="0" rIns="0" bIns="0" rtlCol="0" anchor="ctr"/>
          <a:lstStyle/>
          <a:p>
            <a:pPr algn="r" indent="0" marL="0">
              <a:buNone/>
            </a:pPr>
            <a:r>
              <a:rPr lang="en-US" sz="900" dirty="0">
                <a:solidFill>
                  <a:srgbClr val="5A647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138160" cy="219456"/>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SEMESTRE 1</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Travail réalisé</a:t>
            </a:r>
            <a:endParaRPr lang="en-US" sz="3000" dirty="0"/>
          </a:p>
        </p:txBody>
      </p:sp>
      <p:sp>
        <p:nvSpPr>
          <p:cNvPr id="4" name="Shape 2"/>
          <p:cNvSpPr/>
          <p:nvPr/>
        </p:nvSpPr>
        <p:spPr>
          <a:xfrm>
            <a:off x="502920" y="1234440"/>
            <a:ext cx="2514600" cy="1417320"/>
          </a:xfrm>
          <a:prstGeom prst="roundRect">
            <a:avLst>
              <a:gd name="adj" fmla="val 3871"/>
            </a:avLst>
          </a:prstGeom>
          <a:solidFill>
            <a:srgbClr val="F4F6F9"/>
          </a:solidFill>
          <a:ln w="12700">
            <a:solidFill>
              <a:srgbClr val="F4F6F9"/>
            </a:solidFill>
            <a:prstDash val="solid"/>
          </a:ln>
        </p:spPr>
      </p:sp>
      <p:sp>
        <p:nvSpPr>
          <p:cNvPr id="5" name="Text 3"/>
          <p:cNvSpPr/>
          <p:nvPr/>
        </p:nvSpPr>
        <p:spPr>
          <a:xfrm>
            <a:off x="685800" y="1353312"/>
            <a:ext cx="2148840" cy="685800"/>
          </a:xfrm>
          <a:prstGeom prst="rect">
            <a:avLst/>
          </a:prstGeom>
          <a:noFill/>
          <a:ln/>
        </p:spPr>
        <p:txBody>
          <a:bodyPr wrap="square" lIns="0" tIns="0" rIns="0" bIns="0" rtlCol="0" anchor="ctr"/>
          <a:lstStyle/>
          <a:p>
            <a:pPr indent="0" marL="0">
              <a:buNone/>
            </a:pPr>
            <a:r>
              <a:rPr lang="en-US" sz="4600" b="1" dirty="0">
                <a:solidFill>
                  <a:srgbClr val="1C7293"/>
                </a:solidFill>
                <a:latin typeface="Cambria" pitchFamily="34" charset="0"/>
                <a:ea typeface="Cambria" pitchFamily="34" charset="-122"/>
                <a:cs typeface="Cambria" pitchFamily="34" charset="-120"/>
              </a:rPr>
              <a:t>21</a:t>
            </a:r>
            <a:endParaRPr lang="en-US" sz="4600" dirty="0"/>
          </a:p>
        </p:txBody>
      </p:sp>
      <p:sp>
        <p:nvSpPr>
          <p:cNvPr id="6" name="Text 4"/>
          <p:cNvSpPr/>
          <p:nvPr/>
        </p:nvSpPr>
        <p:spPr>
          <a:xfrm>
            <a:off x="685800" y="2048256"/>
            <a:ext cx="2148840" cy="502920"/>
          </a:xfrm>
          <a:prstGeom prst="rect">
            <a:avLst/>
          </a:prstGeom>
          <a:noFill/>
          <a:ln/>
        </p:spPr>
        <p:txBody>
          <a:bodyPr wrap="square" lIns="0" tIns="0" rIns="0" bIns="0" rtlCol="0" anchor="ctr"/>
          <a:lstStyle/>
          <a:p>
            <a:pPr indent="0" marL="0">
              <a:lnSpc>
                <a:spcPts val="1400"/>
              </a:lnSpc>
              <a:buNone/>
            </a:pPr>
            <a:r>
              <a:rPr lang="en-US" sz="1150" dirty="0">
                <a:solidFill>
                  <a:srgbClr val="1B2233"/>
                </a:solidFill>
                <a:latin typeface="Calibri" pitchFamily="34" charset="0"/>
                <a:ea typeface="Calibri" pitchFamily="34" charset="-122"/>
                <a:cs typeface="Calibri" pitchFamily="34" charset="-120"/>
              </a:rPr>
              <a:t>références</a:t>
            </a:r>
            <a:endParaRPr lang="en-US" sz="1150" dirty="0"/>
          </a:p>
          <a:p>
            <a:pPr indent="0" marL="0">
              <a:lnSpc>
                <a:spcPts val="1400"/>
              </a:lnSpc>
              <a:buNone/>
            </a:pPr>
            <a:r>
              <a:rPr lang="en-US" sz="1150" dirty="0">
                <a:solidFill>
                  <a:srgbClr val="1B2233"/>
                </a:solidFill>
                <a:latin typeface="Calibri" pitchFamily="34" charset="0"/>
                <a:ea typeface="Calibri" pitchFamily="34" charset="-122"/>
                <a:cs typeface="Calibri" pitchFamily="34" charset="-120"/>
              </a:rPr>
              <a:t>cartographiées</a:t>
            </a:r>
            <a:endParaRPr lang="en-US" sz="1150" dirty="0"/>
          </a:p>
        </p:txBody>
      </p:sp>
      <p:sp>
        <p:nvSpPr>
          <p:cNvPr id="7" name="Shape 5"/>
          <p:cNvSpPr/>
          <p:nvPr/>
        </p:nvSpPr>
        <p:spPr>
          <a:xfrm>
            <a:off x="3264408" y="1234440"/>
            <a:ext cx="2514600" cy="1417320"/>
          </a:xfrm>
          <a:prstGeom prst="roundRect">
            <a:avLst>
              <a:gd name="adj" fmla="val 3871"/>
            </a:avLst>
          </a:prstGeom>
          <a:solidFill>
            <a:srgbClr val="F4F6F9"/>
          </a:solidFill>
          <a:ln w="12700">
            <a:solidFill>
              <a:srgbClr val="F4F6F9"/>
            </a:solidFill>
            <a:prstDash val="solid"/>
          </a:ln>
        </p:spPr>
      </p:sp>
      <p:sp>
        <p:nvSpPr>
          <p:cNvPr id="8" name="Text 6"/>
          <p:cNvSpPr/>
          <p:nvPr/>
        </p:nvSpPr>
        <p:spPr>
          <a:xfrm>
            <a:off x="3447288" y="1353312"/>
            <a:ext cx="2148840" cy="685800"/>
          </a:xfrm>
          <a:prstGeom prst="rect">
            <a:avLst/>
          </a:prstGeom>
          <a:noFill/>
          <a:ln/>
        </p:spPr>
        <p:txBody>
          <a:bodyPr wrap="square" lIns="0" tIns="0" rIns="0" bIns="0" rtlCol="0" anchor="ctr"/>
          <a:lstStyle/>
          <a:p>
            <a:pPr indent="0" marL="0">
              <a:buNone/>
            </a:pPr>
            <a:r>
              <a:rPr lang="en-US" sz="4600" b="1" dirty="0">
                <a:solidFill>
                  <a:srgbClr val="065A82"/>
                </a:solidFill>
                <a:latin typeface="Cambria" pitchFamily="34" charset="0"/>
                <a:ea typeface="Cambria" pitchFamily="34" charset="-122"/>
                <a:cs typeface="Cambria" pitchFamily="34" charset="-120"/>
              </a:rPr>
              <a:t>7</a:t>
            </a:r>
            <a:endParaRPr lang="en-US" sz="4600" dirty="0"/>
          </a:p>
        </p:txBody>
      </p:sp>
      <p:sp>
        <p:nvSpPr>
          <p:cNvPr id="9" name="Text 7"/>
          <p:cNvSpPr/>
          <p:nvPr/>
        </p:nvSpPr>
        <p:spPr>
          <a:xfrm>
            <a:off x="3447288" y="2048256"/>
            <a:ext cx="2148840" cy="502920"/>
          </a:xfrm>
          <a:prstGeom prst="rect">
            <a:avLst/>
          </a:prstGeom>
          <a:noFill/>
          <a:ln/>
        </p:spPr>
        <p:txBody>
          <a:bodyPr wrap="square" lIns="0" tIns="0" rIns="0" bIns="0" rtlCol="0" anchor="ctr"/>
          <a:lstStyle/>
          <a:p>
            <a:pPr indent="0" marL="0">
              <a:lnSpc>
                <a:spcPts val="1400"/>
              </a:lnSpc>
              <a:buNone/>
            </a:pPr>
            <a:r>
              <a:rPr lang="en-US" sz="1150" dirty="0">
                <a:solidFill>
                  <a:srgbClr val="1B2233"/>
                </a:solidFill>
                <a:latin typeface="Calibri" pitchFamily="34" charset="0"/>
                <a:ea typeface="Calibri" pitchFamily="34" charset="-122"/>
                <a:cs typeface="Calibri" pitchFamily="34" charset="-120"/>
              </a:rPr>
              <a:t>critères d'analyse</a:t>
            </a:r>
            <a:endParaRPr lang="en-US" sz="1150" dirty="0"/>
          </a:p>
          <a:p>
            <a:pPr indent="0" marL="0">
              <a:lnSpc>
                <a:spcPts val="1400"/>
              </a:lnSpc>
              <a:buNone/>
            </a:pPr>
            <a:r>
              <a:rPr lang="en-US" sz="1150" dirty="0">
                <a:solidFill>
                  <a:srgbClr val="1B2233"/>
                </a:solidFill>
                <a:latin typeface="Calibri" pitchFamily="34" charset="0"/>
                <a:ea typeface="Calibri" pitchFamily="34" charset="-122"/>
                <a:cs typeface="Calibri" pitchFamily="34" charset="-120"/>
              </a:rPr>
              <a:t>par article</a:t>
            </a:r>
            <a:endParaRPr lang="en-US" sz="1150" dirty="0"/>
          </a:p>
        </p:txBody>
      </p:sp>
      <p:sp>
        <p:nvSpPr>
          <p:cNvPr id="10" name="Shape 8"/>
          <p:cNvSpPr/>
          <p:nvPr/>
        </p:nvSpPr>
        <p:spPr>
          <a:xfrm>
            <a:off x="6025896" y="1234440"/>
            <a:ext cx="2514600" cy="1417320"/>
          </a:xfrm>
          <a:prstGeom prst="roundRect">
            <a:avLst>
              <a:gd name="adj" fmla="val 3871"/>
            </a:avLst>
          </a:prstGeom>
          <a:solidFill>
            <a:srgbClr val="F4F6F9"/>
          </a:solidFill>
          <a:ln w="12700">
            <a:solidFill>
              <a:srgbClr val="F4F6F9"/>
            </a:solidFill>
            <a:prstDash val="solid"/>
          </a:ln>
        </p:spPr>
      </p:sp>
      <p:sp>
        <p:nvSpPr>
          <p:cNvPr id="11" name="Text 9"/>
          <p:cNvSpPr/>
          <p:nvPr/>
        </p:nvSpPr>
        <p:spPr>
          <a:xfrm>
            <a:off x="6208776" y="1353312"/>
            <a:ext cx="2148840" cy="685800"/>
          </a:xfrm>
          <a:prstGeom prst="rect">
            <a:avLst/>
          </a:prstGeom>
          <a:noFill/>
          <a:ln/>
        </p:spPr>
        <p:txBody>
          <a:bodyPr wrap="square" lIns="0" tIns="0" rIns="0" bIns="0" rtlCol="0" anchor="ctr"/>
          <a:lstStyle/>
          <a:p>
            <a:pPr indent="0" marL="0">
              <a:buNone/>
            </a:pPr>
            <a:r>
              <a:rPr lang="en-US" sz="4600" b="1" dirty="0">
                <a:solidFill>
                  <a:srgbClr val="E8A33D"/>
                </a:solidFill>
                <a:latin typeface="Cambria" pitchFamily="34" charset="0"/>
                <a:ea typeface="Cambria" pitchFamily="34" charset="-122"/>
                <a:cs typeface="Cambria" pitchFamily="34" charset="-120"/>
              </a:rPr>
              <a:t>4</a:t>
            </a:r>
            <a:endParaRPr lang="en-US" sz="4600" dirty="0"/>
          </a:p>
        </p:txBody>
      </p:sp>
      <p:sp>
        <p:nvSpPr>
          <p:cNvPr id="12" name="Text 10"/>
          <p:cNvSpPr/>
          <p:nvPr/>
        </p:nvSpPr>
        <p:spPr>
          <a:xfrm>
            <a:off x="6208776" y="2048256"/>
            <a:ext cx="2148840" cy="502920"/>
          </a:xfrm>
          <a:prstGeom prst="rect">
            <a:avLst/>
          </a:prstGeom>
          <a:noFill/>
          <a:ln/>
        </p:spPr>
        <p:txBody>
          <a:bodyPr wrap="square" lIns="0" tIns="0" rIns="0" bIns="0" rtlCol="0" anchor="ctr"/>
          <a:lstStyle/>
          <a:p>
            <a:pPr indent="0" marL="0">
              <a:lnSpc>
                <a:spcPts val="1400"/>
              </a:lnSpc>
              <a:buNone/>
            </a:pPr>
            <a:r>
              <a:rPr lang="en-US" sz="1150" dirty="0">
                <a:solidFill>
                  <a:srgbClr val="1B2233"/>
                </a:solidFill>
                <a:latin typeface="Calibri" pitchFamily="34" charset="0"/>
                <a:ea typeface="Calibri" pitchFamily="34" charset="-122"/>
                <a:cs typeface="Calibri" pitchFamily="34" charset="-120"/>
              </a:rPr>
              <a:t>codes de référence</a:t>
            </a:r>
            <a:endParaRPr lang="en-US" sz="1150" dirty="0"/>
          </a:p>
          <a:p>
            <a:pPr indent="0" marL="0">
              <a:lnSpc>
                <a:spcPts val="1400"/>
              </a:lnSpc>
              <a:buNone/>
            </a:pPr>
            <a:r>
              <a:rPr lang="en-US" sz="1150" dirty="0">
                <a:solidFill>
                  <a:srgbClr val="1B2233"/>
                </a:solidFill>
                <a:latin typeface="Calibri" pitchFamily="34" charset="0"/>
                <a:ea typeface="Calibri" pitchFamily="34" charset="-122"/>
                <a:cs typeface="Calibri" pitchFamily="34" charset="-120"/>
              </a:rPr>
              <a:t>identifiés</a:t>
            </a:r>
            <a:endParaRPr lang="en-US" sz="1150" dirty="0"/>
          </a:p>
        </p:txBody>
      </p:sp>
      <p:sp>
        <p:nvSpPr>
          <p:cNvPr id="13" name="Text 11"/>
          <p:cNvSpPr/>
          <p:nvPr/>
        </p:nvSpPr>
        <p:spPr>
          <a:xfrm>
            <a:off x="502920" y="2852928"/>
            <a:ext cx="3657600" cy="274320"/>
          </a:xfrm>
          <a:prstGeom prst="rect">
            <a:avLst/>
          </a:prstGeom>
          <a:noFill/>
          <a:ln/>
        </p:spPr>
        <p:txBody>
          <a:bodyPr wrap="square" lIns="0" tIns="0" rIns="0" bIns="0" rtlCol="0" anchor="ctr"/>
          <a:lstStyle/>
          <a:p>
            <a:pPr indent="0" marL="0">
              <a:buNone/>
            </a:pPr>
            <a:r>
              <a:rPr lang="en-US" sz="1100" b="1" spc="100" kern="0" dirty="0">
                <a:solidFill>
                  <a:srgbClr val="1C7293"/>
                </a:solidFill>
                <a:latin typeface="Calibri" pitchFamily="34" charset="0"/>
                <a:ea typeface="Calibri" pitchFamily="34" charset="-122"/>
                <a:cs typeface="Calibri" pitchFamily="34" charset="-120"/>
              </a:rPr>
              <a:t>Axes de travail</a:t>
            </a:r>
            <a:endParaRPr lang="en-US" sz="1100" dirty="0"/>
          </a:p>
        </p:txBody>
      </p:sp>
      <p:sp>
        <p:nvSpPr>
          <p:cNvPr id="14" name="Text 12"/>
          <p:cNvSpPr/>
          <p:nvPr/>
        </p:nvSpPr>
        <p:spPr>
          <a:xfrm>
            <a:off x="502920" y="3154680"/>
            <a:ext cx="8138160" cy="118872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1B2233"/>
                </a:solidFill>
                <a:latin typeface="Calibri" pitchFamily="34" charset="0"/>
                <a:ea typeface="Calibri" pitchFamily="34" charset="-122"/>
                <a:cs typeface="Calibri" pitchFamily="34" charset="-120"/>
              </a:rPr>
              <a:t>Lecture approfondie de la chaîne CRYPTO 2020 → EUROCRYPT 2024 → ASIACRYPT 2024 → EUROCRYPT 2025</a:t>
            </a:r>
            <a:endParaRPr lang="en-US" sz="1200" dirty="0"/>
          </a:p>
          <a:p>
            <a:pPr marL="342900" indent="-342900">
              <a:spcAft>
                <a:spcPts val="600"/>
              </a:spcAft>
              <a:buSzPct val="100000"/>
              <a:buChar char="•"/>
            </a:pPr>
            <a:r>
              <a:rPr lang="en-US" sz="1200" dirty="0">
                <a:solidFill>
                  <a:srgbClr val="1B2233"/>
                </a:solidFill>
                <a:latin typeface="Calibri" pitchFamily="34" charset="0"/>
                <a:ea typeface="Calibri" pitchFamily="34" charset="-122"/>
                <a:cs typeface="Calibri" pitchFamily="34" charset="-120"/>
              </a:rPr>
              <a:t>Analyse détaillée de l'article de départ (LATINCRYPT 2025) : couche de sortie, freeze et SOE en hard-label</a:t>
            </a:r>
            <a:endParaRPr lang="en-US" sz="1200" dirty="0"/>
          </a:p>
          <a:p>
            <a:pPr marL="342900" indent="-342900">
              <a:spcAft>
                <a:spcPts val="600"/>
              </a:spcAft>
              <a:buSzPct val="100000"/>
              <a:buChar char="•"/>
            </a:pPr>
            <a:r>
              <a:rPr lang="en-US" sz="1200" dirty="0">
                <a:solidFill>
                  <a:srgbClr val="1B2233"/>
                </a:solidFill>
                <a:latin typeface="Calibri" pitchFamily="34" charset="0"/>
                <a:ea typeface="Calibri" pitchFamily="34" charset="-122"/>
                <a:cs typeface="Calibri" pitchFamily="34" charset="-120"/>
              </a:rPr>
              <a:t>Mise en place de l'environnement expérimental et du protocole de mesure (requêtes, temps, erreur, accord)</a:t>
            </a:r>
            <a:endParaRPr lang="en-US" sz="1200" dirty="0"/>
          </a:p>
          <a:p>
            <a:pPr marL="342900" indent="-342900">
              <a:spcAft>
                <a:spcPts val="600"/>
              </a:spcAft>
              <a:buSzPct val="100000"/>
              <a:buChar char="•"/>
            </a:pPr>
            <a:r>
              <a:rPr lang="en-US" sz="1200" dirty="0">
                <a:solidFill>
                  <a:srgbClr val="1B2233"/>
                </a:solidFill>
                <a:latin typeface="Calibri" pitchFamily="34" charset="0"/>
                <a:ea typeface="Calibri" pitchFamily="34" charset="-122"/>
                <a:cs typeface="Calibri" pitchFamily="34" charset="-120"/>
              </a:rPr>
              <a:t>Veille structurée : IACR ePrint, arXiv cs.CR / cs.LG, alertes de citation</a:t>
            </a:r>
            <a:endParaRPr lang="en-US" sz="1200" dirty="0"/>
          </a:p>
        </p:txBody>
      </p:sp>
      <p:sp>
        <p:nvSpPr>
          <p:cNvPr id="15" name="Text 13"/>
          <p:cNvSpPr/>
          <p:nvPr/>
        </p:nvSpPr>
        <p:spPr>
          <a:xfrm>
            <a:off x="502920" y="4759452"/>
            <a:ext cx="4572000" cy="228600"/>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T. Diallo — Bilan S1 — EPT / EDPT</a:t>
            </a:r>
            <a:endParaRPr lang="en-US" sz="900" dirty="0"/>
          </a:p>
        </p:txBody>
      </p:sp>
      <p:sp>
        <p:nvSpPr>
          <p:cNvPr id="16" name="Text 14"/>
          <p:cNvSpPr/>
          <p:nvPr/>
        </p:nvSpPr>
        <p:spPr>
          <a:xfrm>
            <a:off x="8183880" y="4759452"/>
            <a:ext cx="457200" cy="228600"/>
          </a:xfrm>
          <a:prstGeom prst="rect">
            <a:avLst/>
          </a:prstGeom>
          <a:noFill/>
          <a:ln/>
        </p:spPr>
        <p:txBody>
          <a:bodyPr wrap="square" lIns="0" tIns="0" rIns="0" bIns="0" rtlCol="0" anchor="ctr"/>
          <a:lstStyle/>
          <a:p>
            <a:pPr algn="r" indent="0" marL="0">
              <a:buNone/>
            </a:pPr>
            <a:r>
              <a:rPr lang="en-US" sz="900" dirty="0">
                <a:solidFill>
                  <a:srgbClr val="5A647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138160" cy="219456"/>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CANALES-MARTÍNEZ &amp; SANTOS — LATINCRYPT 2025</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L'article de départ : ce qu'il ferme</a:t>
            </a:r>
            <a:endParaRPr lang="en-US" sz="3000" dirty="0"/>
          </a:p>
        </p:txBody>
      </p:sp>
      <p:sp>
        <p:nvSpPr>
          <p:cNvPr id="4" name="Text 2"/>
          <p:cNvSpPr/>
          <p:nvPr/>
        </p:nvSpPr>
        <p:spPr>
          <a:xfrm>
            <a:off x="502920" y="1207008"/>
            <a:ext cx="8138160" cy="457200"/>
          </a:xfrm>
          <a:prstGeom prst="rect">
            <a:avLst/>
          </a:prstGeom>
          <a:noFill/>
          <a:ln/>
        </p:spPr>
        <p:txBody>
          <a:bodyPr wrap="square" lIns="0" tIns="0" rIns="0" bIns="0" rtlCol="0" anchor="ctr"/>
          <a:lstStyle/>
          <a:p>
            <a:pPr indent="0" marL="0">
              <a:lnSpc>
                <a:spcPts val="1700"/>
              </a:lnSpc>
              <a:buNone/>
            </a:pPr>
            <a:r>
              <a:rPr lang="en-US" sz="1250" dirty="0">
                <a:solidFill>
                  <a:srgbClr val="1B2233"/>
                </a:solidFill>
                <a:latin typeface="Calibri" pitchFamily="34" charset="0"/>
                <a:ea typeface="Calibri" pitchFamily="34" charset="-122"/>
                <a:cs typeface="Calibri" pitchFamily="34" charset="-120"/>
              </a:rPr>
              <a:t>EUROCRYPT 2025 récupère toutes les couches sauf la dernière : la couche de sortie n'a pas de ReLU, donc pas d'hyperplan critique, donc pas de signature.</a:t>
            </a:r>
            <a:endParaRPr lang="en-US" sz="1250" dirty="0"/>
          </a:p>
        </p:txBody>
      </p:sp>
      <p:sp>
        <p:nvSpPr>
          <p:cNvPr id="5" name="Shape 3"/>
          <p:cNvSpPr/>
          <p:nvPr/>
        </p:nvSpPr>
        <p:spPr>
          <a:xfrm>
            <a:off x="502920" y="1783080"/>
            <a:ext cx="8138160" cy="914400"/>
          </a:xfrm>
          <a:prstGeom prst="roundRect">
            <a:avLst>
              <a:gd name="adj" fmla="val 6000"/>
            </a:avLst>
          </a:prstGeom>
          <a:solidFill>
            <a:srgbClr val="EAF1F6"/>
          </a:solidFill>
          <a:ln w="12700">
            <a:solidFill>
              <a:srgbClr val="EAF1F6"/>
            </a:solidFill>
            <a:prstDash val="solid"/>
          </a:ln>
        </p:spPr>
      </p:sp>
      <p:sp>
        <p:nvSpPr>
          <p:cNvPr id="6" name="Text 4"/>
          <p:cNvSpPr/>
          <p:nvPr/>
        </p:nvSpPr>
        <p:spPr>
          <a:xfrm>
            <a:off x="777240" y="1975104"/>
            <a:ext cx="7589520" cy="320040"/>
          </a:xfrm>
          <a:prstGeom prst="rect">
            <a:avLst/>
          </a:prstGeom>
          <a:noFill/>
          <a:ln/>
        </p:spPr>
        <p:txBody>
          <a:bodyPr wrap="square" lIns="0" tIns="0" rIns="0" bIns="0" rtlCol="0" anchor="ctr"/>
          <a:lstStyle/>
          <a:p>
            <a:pPr indent="0" marL="0">
              <a:buNone/>
            </a:pPr>
            <a:r>
              <a:rPr lang="en-US" sz="1500" b="1" dirty="0">
                <a:solidFill>
                  <a:srgbClr val="21295C"/>
                </a:solidFill>
                <a:latin typeface="Courier New" pitchFamily="34" charset="0"/>
                <a:ea typeface="Courier New" pitchFamily="34" charset="-122"/>
                <a:cs typeface="Courier New" pitchFamily="34" charset="-120"/>
              </a:rPr>
              <a:t>En un point de transition entre les classes i et j :   A_i·y + b_i  =  A_j·y + b_j</a:t>
            </a:r>
            <a:endParaRPr lang="en-US" sz="1500" dirty="0"/>
          </a:p>
        </p:txBody>
      </p:sp>
      <p:sp>
        <p:nvSpPr>
          <p:cNvPr id="7" name="Text 5"/>
          <p:cNvSpPr/>
          <p:nvPr/>
        </p:nvSpPr>
        <p:spPr>
          <a:xfrm>
            <a:off x="777240" y="2304288"/>
            <a:ext cx="7589520" cy="320040"/>
          </a:xfrm>
          <a:prstGeom prst="rect">
            <a:avLst/>
          </a:prstGeom>
          <a:noFill/>
          <a:ln/>
        </p:spPr>
        <p:txBody>
          <a:bodyPr wrap="square" lIns="0" tIns="0" rIns="0" bIns="0" rtlCol="0" anchor="ctr"/>
          <a:lstStyle/>
          <a:p>
            <a:pPr indent="0" marL="0">
              <a:buNone/>
            </a:pPr>
            <a:r>
              <a:rPr lang="en-US" sz="1150" i="1" dirty="0">
                <a:solidFill>
                  <a:srgbClr val="5A6478"/>
                </a:solidFill>
                <a:latin typeface="Calibri" pitchFamily="34" charset="0"/>
                <a:ea typeface="Calibri" pitchFamily="34" charset="-122"/>
                <a:cs typeface="Calibri" pitchFamily="34" charset="-120"/>
              </a:rPr>
              <a:t>y est connu (couches précédentes extraites) → chaque point de transition donne une équation linéaire sur les paramètres de la couche de sortie.</a:t>
            </a:r>
            <a:endParaRPr lang="en-US" sz="1150" dirty="0"/>
          </a:p>
        </p:txBody>
      </p:sp>
      <p:sp>
        <p:nvSpPr>
          <p:cNvPr id="8" name="Shape 6"/>
          <p:cNvSpPr/>
          <p:nvPr/>
        </p:nvSpPr>
        <p:spPr>
          <a:xfrm>
            <a:off x="502920" y="2852928"/>
            <a:ext cx="2514600" cy="1207008"/>
          </a:xfrm>
          <a:prstGeom prst="roundRect">
            <a:avLst>
              <a:gd name="adj" fmla="val 4545"/>
            </a:avLst>
          </a:prstGeom>
          <a:solidFill>
            <a:srgbClr val="F4F6F9"/>
          </a:solidFill>
          <a:ln w="12700">
            <a:solidFill>
              <a:srgbClr val="F4F6F9"/>
            </a:solidFill>
            <a:prstDash val="solid"/>
          </a:ln>
        </p:spPr>
      </p:sp>
      <p:sp>
        <p:nvSpPr>
          <p:cNvPr id="9" name="Text 7"/>
          <p:cNvSpPr/>
          <p:nvPr/>
        </p:nvSpPr>
        <p:spPr>
          <a:xfrm>
            <a:off x="685800" y="2980944"/>
            <a:ext cx="2194560" cy="274320"/>
          </a:xfrm>
          <a:prstGeom prst="rect">
            <a:avLst/>
          </a:prstGeom>
          <a:noFill/>
          <a:ln/>
        </p:spPr>
        <p:txBody>
          <a:bodyPr wrap="square" lIns="0" tIns="0" rIns="0" bIns="0" rtlCol="0" anchor="ctr"/>
          <a:lstStyle/>
          <a:p>
            <a:pPr indent="0" marL="0">
              <a:buNone/>
            </a:pPr>
            <a:r>
              <a:rPr lang="en-US" sz="1300" b="1" dirty="0">
                <a:solidFill>
                  <a:srgbClr val="1C7293"/>
                </a:solidFill>
                <a:latin typeface="Calibri" pitchFamily="34" charset="0"/>
                <a:ea typeface="Calibri" pitchFamily="34" charset="-122"/>
                <a:cs typeface="Calibri" pitchFamily="34" charset="-120"/>
              </a:rPr>
              <a:t>Couche de sortie</a:t>
            </a:r>
            <a:endParaRPr lang="en-US" sz="1300" dirty="0"/>
          </a:p>
        </p:txBody>
      </p:sp>
      <p:sp>
        <p:nvSpPr>
          <p:cNvPr id="10" name="Text 8"/>
          <p:cNvSpPr/>
          <p:nvPr/>
        </p:nvSpPr>
        <p:spPr>
          <a:xfrm>
            <a:off x="685800" y="3273552"/>
            <a:ext cx="2194560" cy="713232"/>
          </a:xfrm>
          <a:prstGeom prst="rect">
            <a:avLst/>
          </a:prstGeom>
          <a:noFill/>
          <a:ln/>
        </p:spPr>
        <p:txBody>
          <a:bodyPr wrap="square" lIns="0" tIns="0" rIns="0" bIns="0" rtlCol="0" anchor="ctr"/>
          <a:lstStyle/>
          <a:p>
            <a:pPr indent="0" marL="0">
              <a:lnSpc>
                <a:spcPts val="1500"/>
              </a:lnSpc>
              <a:buNone/>
            </a:pPr>
            <a:r>
              <a:rPr lang="en-US" sz="1100" dirty="0">
                <a:solidFill>
                  <a:srgbClr val="1B2233"/>
                </a:solidFill>
                <a:latin typeface="Calibri" pitchFamily="34" charset="0"/>
                <a:ea typeface="Calibri" pitchFamily="34" charset="-122"/>
                <a:cs typeface="Calibri" pitchFamily="34" charset="-120"/>
              </a:rPr>
              <a:t>Système linéaire résolu à d_r+2 degrés de liberté près (réseaux équivalents)</a:t>
            </a:r>
            <a:endParaRPr lang="en-US" sz="1100" dirty="0"/>
          </a:p>
        </p:txBody>
      </p:sp>
      <p:sp>
        <p:nvSpPr>
          <p:cNvPr id="11" name="Shape 9"/>
          <p:cNvSpPr/>
          <p:nvPr/>
        </p:nvSpPr>
        <p:spPr>
          <a:xfrm>
            <a:off x="3264408" y="2852928"/>
            <a:ext cx="2514600" cy="1207008"/>
          </a:xfrm>
          <a:prstGeom prst="roundRect">
            <a:avLst>
              <a:gd name="adj" fmla="val 4545"/>
            </a:avLst>
          </a:prstGeom>
          <a:solidFill>
            <a:srgbClr val="F4F6F9"/>
          </a:solidFill>
          <a:ln w="12700">
            <a:solidFill>
              <a:srgbClr val="F4F6F9"/>
            </a:solidFill>
            <a:prstDash val="solid"/>
          </a:ln>
        </p:spPr>
      </p:sp>
      <p:sp>
        <p:nvSpPr>
          <p:cNvPr id="12" name="Text 10"/>
          <p:cNvSpPr/>
          <p:nvPr/>
        </p:nvSpPr>
        <p:spPr>
          <a:xfrm>
            <a:off x="3447288" y="2980944"/>
            <a:ext cx="2194560" cy="274320"/>
          </a:xfrm>
          <a:prstGeom prst="rect">
            <a:avLst/>
          </a:prstGeom>
          <a:noFill/>
          <a:ln/>
        </p:spPr>
        <p:txBody>
          <a:bodyPr wrap="square" lIns="0" tIns="0" rIns="0" bIns="0" rtlCol="0" anchor="ctr"/>
          <a:lstStyle/>
          <a:p>
            <a:pPr indent="0" marL="0">
              <a:buNone/>
            </a:pPr>
            <a:r>
              <a:rPr lang="en-US" sz="1300" b="1" dirty="0">
                <a:solidFill>
                  <a:srgbClr val="1C7293"/>
                </a:solidFill>
                <a:latin typeface="Calibri" pitchFamily="34" charset="0"/>
                <a:ea typeface="Calibri" pitchFamily="34" charset="-122"/>
                <a:cs typeface="Calibri" pitchFamily="34" charset="-120"/>
              </a:rPr>
              <a:t>Freeze hard-label</a:t>
            </a:r>
            <a:endParaRPr lang="en-US" sz="1300" dirty="0"/>
          </a:p>
        </p:txBody>
      </p:sp>
      <p:sp>
        <p:nvSpPr>
          <p:cNvPr id="13" name="Text 11"/>
          <p:cNvSpPr/>
          <p:nvPr/>
        </p:nvSpPr>
        <p:spPr>
          <a:xfrm>
            <a:off x="3447288" y="3273552"/>
            <a:ext cx="2194560" cy="713232"/>
          </a:xfrm>
          <a:prstGeom prst="rect">
            <a:avLst/>
          </a:prstGeom>
          <a:noFill/>
          <a:ln/>
        </p:spPr>
        <p:txBody>
          <a:bodyPr wrap="square" lIns="0" tIns="0" rIns="0" bIns="0" rtlCol="0" anchor="ctr"/>
          <a:lstStyle/>
          <a:p>
            <a:pPr indent="0" marL="0">
              <a:lnSpc>
                <a:spcPts val="1500"/>
              </a:lnSpc>
              <a:buNone/>
            </a:pPr>
            <a:r>
              <a:rPr lang="en-US" sz="1100" dirty="0">
                <a:solidFill>
                  <a:srgbClr val="1B2233"/>
                </a:solidFill>
                <a:latin typeface="Calibri" pitchFamily="34" charset="0"/>
                <a:ea typeface="Calibri" pitchFamily="34" charset="-122"/>
                <a:cs typeface="Calibri" pitchFamily="34" charset="-120"/>
              </a:rPr>
              <a:t>L'état d'un neurone se lit en testant si x′ est resté sur la frontière</a:t>
            </a:r>
            <a:endParaRPr lang="en-US" sz="1100" dirty="0"/>
          </a:p>
        </p:txBody>
      </p:sp>
      <p:sp>
        <p:nvSpPr>
          <p:cNvPr id="14" name="Shape 12"/>
          <p:cNvSpPr/>
          <p:nvPr/>
        </p:nvSpPr>
        <p:spPr>
          <a:xfrm>
            <a:off x="6025896" y="2852928"/>
            <a:ext cx="2514600" cy="1207008"/>
          </a:xfrm>
          <a:prstGeom prst="roundRect">
            <a:avLst>
              <a:gd name="adj" fmla="val 4545"/>
            </a:avLst>
          </a:prstGeom>
          <a:solidFill>
            <a:srgbClr val="F4F6F9"/>
          </a:solidFill>
          <a:ln w="12700">
            <a:solidFill>
              <a:srgbClr val="F4F6F9"/>
            </a:solidFill>
            <a:prstDash val="solid"/>
          </a:ln>
        </p:spPr>
      </p:sp>
      <p:sp>
        <p:nvSpPr>
          <p:cNvPr id="15" name="Text 13"/>
          <p:cNvSpPr/>
          <p:nvPr/>
        </p:nvSpPr>
        <p:spPr>
          <a:xfrm>
            <a:off x="6208776" y="2980944"/>
            <a:ext cx="2194560" cy="274320"/>
          </a:xfrm>
          <a:prstGeom prst="rect">
            <a:avLst/>
          </a:prstGeom>
          <a:noFill/>
          <a:ln/>
        </p:spPr>
        <p:txBody>
          <a:bodyPr wrap="square" lIns="0" tIns="0" rIns="0" bIns="0" rtlCol="0" anchor="ctr"/>
          <a:lstStyle/>
          <a:p>
            <a:pPr indent="0" marL="0">
              <a:buNone/>
            </a:pPr>
            <a:r>
              <a:rPr lang="en-US" sz="1300" b="1" dirty="0">
                <a:solidFill>
                  <a:srgbClr val="1C7293"/>
                </a:solidFill>
                <a:latin typeface="Calibri" pitchFamily="34" charset="0"/>
                <a:ea typeface="Calibri" pitchFamily="34" charset="-122"/>
                <a:cs typeface="Calibri" pitchFamily="34" charset="-120"/>
              </a:rPr>
              <a:t>SOE hard-label</a:t>
            </a:r>
            <a:endParaRPr lang="en-US" sz="1300" dirty="0"/>
          </a:p>
        </p:txBody>
      </p:sp>
      <p:sp>
        <p:nvSpPr>
          <p:cNvPr id="16" name="Text 14"/>
          <p:cNvSpPr/>
          <p:nvPr/>
        </p:nvSpPr>
        <p:spPr>
          <a:xfrm>
            <a:off x="6208776" y="3273552"/>
            <a:ext cx="2194560" cy="713232"/>
          </a:xfrm>
          <a:prstGeom prst="rect">
            <a:avLst/>
          </a:prstGeom>
          <a:noFill/>
          <a:ln/>
        </p:spPr>
        <p:txBody>
          <a:bodyPr wrap="square" lIns="0" tIns="0" rIns="0" bIns="0" rtlCol="0" anchor="ctr"/>
          <a:lstStyle/>
          <a:p>
            <a:pPr indent="0" marL="0">
              <a:lnSpc>
                <a:spcPts val="1500"/>
              </a:lnSpc>
              <a:buNone/>
            </a:pPr>
            <a:r>
              <a:rPr lang="en-US" sz="1100" dirty="0">
                <a:solidFill>
                  <a:srgbClr val="1B2233"/>
                </a:solidFill>
                <a:latin typeface="Calibri" pitchFamily="34" charset="0"/>
                <a:ea typeface="Calibri" pitchFamily="34" charset="-122"/>
                <a:cs typeface="Calibri" pitchFamily="34" charset="-120"/>
              </a:rPr>
              <a:t>Système homogène ; avec la normale m déjà connue : zéro requête</a:t>
            </a:r>
            <a:endParaRPr lang="en-US" sz="1100" dirty="0"/>
          </a:p>
        </p:txBody>
      </p:sp>
      <p:sp>
        <p:nvSpPr>
          <p:cNvPr id="17" name="Text 15"/>
          <p:cNvSpPr/>
          <p:nvPr/>
        </p:nvSpPr>
        <p:spPr>
          <a:xfrm>
            <a:off x="502920" y="4206240"/>
            <a:ext cx="8138160" cy="274320"/>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Conséquence : combinée à EUROCRYPT 2025, une attaque hard-label complète devient possible.</a:t>
            </a:r>
            <a:endParaRPr lang="en-US" sz="1150" dirty="0"/>
          </a:p>
        </p:txBody>
      </p:sp>
      <p:sp>
        <p:nvSpPr>
          <p:cNvPr id="18" name="Text 16"/>
          <p:cNvSpPr/>
          <p:nvPr/>
        </p:nvSpPr>
        <p:spPr>
          <a:xfrm>
            <a:off x="502920" y="4759452"/>
            <a:ext cx="4572000" cy="228600"/>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T. Diallo — Bilan S1 — EPT / EDPT</a:t>
            </a:r>
            <a:endParaRPr lang="en-US" sz="900" dirty="0"/>
          </a:p>
        </p:txBody>
      </p:sp>
      <p:sp>
        <p:nvSpPr>
          <p:cNvPr id="19" name="Text 17"/>
          <p:cNvSpPr/>
          <p:nvPr/>
        </p:nvSpPr>
        <p:spPr>
          <a:xfrm>
            <a:off x="8183880" y="4759452"/>
            <a:ext cx="457200" cy="228600"/>
          </a:xfrm>
          <a:prstGeom prst="rect">
            <a:avLst/>
          </a:prstGeom>
          <a:noFill/>
          <a:ln/>
        </p:spPr>
        <p:txBody>
          <a:bodyPr wrap="square" lIns="0" tIns="0" rIns="0" bIns="0" rtlCol="0" anchor="ctr"/>
          <a:lstStyle/>
          <a:p>
            <a:pPr algn="r" indent="0" marL="0">
              <a:buNone/>
            </a:pPr>
            <a:r>
              <a:rPr lang="en-US" sz="900" dirty="0">
                <a:solidFill>
                  <a:srgbClr val="5A647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138160" cy="219456"/>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RÉSULTATS EXPÉRIMENTAUX PUBLIÉS</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Les chiffres qui orientent la suite</a:t>
            </a:r>
            <a:endParaRPr lang="en-US" sz="3000" dirty="0"/>
          </a:p>
        </p:txBody>
      </p:sp>
      <p:sp>
        <p:nvSpPr>
          <p:cNvPr id="4" name="Shape 2"/>
          <p:cNvSpPr/>
          <p:nvPr/>
        </p:nvSpPr>
        <p:spPr>
          <a:xfrm>
            <a:off x="502920" y="1207008"/>
            <a:ext cx="8138160" cy="530352"/>
          </a:xfrm>
          <a:prstGeom prst="roundRect">
            <a:avLst>
              <a:gd name="adj" fmla="val 10345"/>
            </a:avLst>
          </a:prstGeom>
          <a:solidFill>
            <a:srgbClr val="F4F6F9"/>
          </a:solidFill>
          <a:ln w="12700">
            <a:solidFill>
              <a:srgbClr val="F4F6F9"/>
            </a:solidFill>
            <a:prstDash val="solid"/>
          </a:ln>
        </p:spPr>
      </p:sp>
      <p:sp>
        <p:nvSpPr>
          <p:cNvPr id="5" name="Text 3"/>
          <p:cNvSpPr/>
          <p:nvPr/>
        </p:nvSpPr>
        <p:spPr>
          <a:xfrm>
            <a:off x="704088" y="1261872"/>
            <a:ext cx="3794760" cy="420624"/>
          </a:xfrm>
          <a:prstGeom prst="rect">
            <a:avLst/>
          </a:prstGeom>
          <a:noFill/>
          <a:ln/>
        </p:spPr>
        <p:txBody>
          <a:bodyPr wrap="square" lIns="0" tIns="0" rIns="0" bIns="0" rtlCol="0" anchor="ctr"/>
          <a:lstStyle/>
          <a:p>
            <a:pPr indent="0" marL="0">
              <a:buNone/>
            </a:pPr>
            <a:r>
              <a:rPr lang="en-US" sz="1200" dirty="0">
                <a:solidFill>
                  <a:srgbClr val="1B2233"/>
                </a:solidFill>
                <a:latin typeface="Calibri" pitchFamily="34" charset="0"/>
                <a:ea typeface="Calibri" pitchFamily="34" charset="-122"/>
                <a:cs typeface="Calibri" pitchFamily="34" charset="-120"/>
              </a:rPr>
              <a:t>Construction du système — couche de sortie</a:t>
            </a:r>
            <a:endParaRPr lang="en-US" sz="1200" dirty="0"/>
          </a:p>
        </p:txBody>
      </p:sp>
      <p:sp>
        <p:nvSpPr>
          <p:cNvPr id="6" name="Text 4"/>
          <p:cNvSpPr/>
          <p:nvPr/>
        </p:nvSpPr>
        <p:spPr>
          <a:xfrm>
            <a:off x="4526280" y="1261872"/>
            <a:ext cx="1600200" cy="420624"/>
          </a:xfrm>
          <a:prstGeom prst="rect">
            <a:avLst/>
          </a:prstGeom>
          <a:noFill/>
          <a:ln/>
        </p:spPr>
        <p:txBody>
          <a:bodyPr wrap="square" lIns="0" tIns="0" rIns="0" bIns="0" rtlCol="0" anchor="ctr"/>
          <a:lstStyle/>
          <a:p>
            <a:pPr algn="r" indent="0" marL="0">
              <a:buNone/>
            </a:pPr>
            <a:r>
              <a:rPr lang="en-US" sz="1600" b="1" dirty="0">
                <a:solidFill>
                  <a:srgbClr val="E8A33D"/>
                </a:solidFill>
                <a:latin typeface="Cambria" pitchFamily="34" charset="0"/>
                <a:ea typeface="Cambria" pitchFamily="34" charset="-122"/>
                <a:cs typeface="Cambria" pitchFamily="34" charset="-120"/>
              </a:rPr>
              <a:t>6 h 30</a:t>
            </a:r>
            <a:endParaRPr lang="en-US" sz="1600" dirty="0"/>
          </a:p>
        </p:txBody>
      </p:sp>
      <p:sp>
        <p:nvSpPr>
          <p:cNvPr id="7" name="Text 5"/>
          <p:cNvSpPr/>
          <p:nvPr/>
        </p:nvSpPr>
        <p:spPr>
          <a:xfrm>
            <a:off x="6309360" y="1261872"/>
            <a:ext cx="2148840" cy="420624"/>
          </a:xfrm>
          <a:prstGeom prst="rect">
            <a:avLst/>
          </a:prstGeom>
          <a:noFill/>
          <a:ln/>
        </p:spPr>
        <p:txBody>
          <a:bodyPr wrap="square" lIns="0" tIns="0" rIns="0" bIns="0" rtlCol="0" anchor="ctr"/>
          <a:lstStyle/>
          <a:p>
            <a:pPr indent="0" marL="0">
              <a:buNone/>
            </a:pPr>
            <a:r>
              <a:rPr lang="en-US" sz="1050" i="1" dirty="0">
                <a:solidFill>
                  <a:srgbClr val="5A6478"/>
                </a:solidFill>
                <a:latin typeface="Calibri" pitchFamily="34" charset="0"/>
                <a:ea typeface="Calibri" pitchFamily="34" charset="-122"/>
                <a:cs typeface="Calibri" pitchFamily="34" charset="-120"/>
              </a:rPr>
              <a:t>réseau 3072−256×3−64−10</a:t>
            </a:r>
            <a:endParaRPr lang="en-US" sz="1050" dirty="0"/>
          </a:p>
        </p:txBody>
      </p:sp>
      <p:sp>
        <p:nvSpPr>
          <p:cNvPr id="8" name="Text 6"/>
          <p:cNvSpPr/>
          <p:nvPr/>
        </p:nvSpPr>
        <p:spPr>
          <a:xfrm>
            <a:off x="704088" y="1865376"/>
            <a:ext cx="3794760" cy="420624"/>
          </a:xfrm>
          <a:prstGeom prst="rect">
            <a:avLst/>
          </a:prstGeom>
          <a:noFill/>
          <a:ln/>
        </p:spPr>
        <p:txBody>
          <a:bodyPr wrap="square" lIns="0" tIns="0" rIns="0" bIns="0" rtlCol="0" anchor="ctr"/>
          <a:lstStyle/>
          <a:p>
            <a:pPr indent="0" marL="0">
              <a:buNone/>
            </a:pPr>
            <a:r>
              <a:rPr lang="en-US" sz="1200" dirty="0">
                <a:solidFill>
                  <a:srgbClr val="1B2233"/>
                </a:solidFill>
                <a:latin typeface="Calibri" pitchFamily="34" charset="0"/>
                <a:ea typeface="Calibri" pitchFamily="34" charset="-122"/>
                <a:cs typeface="Calibri" pitchFamily="34" charset="-120"/>
              </a:rPr>
              <a:t>Résolution du système linéaire</a:t>
            </a:r>
            <a:endParaRPr lang="en-US" sz="1200" dirty="0"/>
          </a:p>
        </p:txBody>
      </p:sp>
      <p:sp>
        <p:nvSpPr>
          <p:cNvPr id="9" name="Text 7"/>
          <p:cNvSpPr/>
          <p:nvPr/>
        </p:nvSpPr>
        <p:spPr>
          <a:xfrm>
            <a:off x="4526280" y="1865376"/>
            <a:ext cx="1600200" cy="420624"/>
          </a:xfrm>
          <a:prstGeom prst="rect">
            <a:avLst/>
          </a:prstGeom>
          <a:noFill/>
          <a:ln/>
        </p:spPr>
        <p:txBody>
          <a:bodyPr wrap="square" lIns="0" tIns="0" rIns="0" bIns="0" rtlCol="0" anchor="ctr"/>
          <a:lstStyle/>
          <a:p>
            <a:pPr algn="r" indent="0" marL="0">
              <a:buNone/>
            </a:pPr>
            <a:r>
              <a:rPr lang="en-US" sz="1600" b="1" dirty="0">
                <a:solidFill>
                  <a:srgbClr val="1C7293"/>
                </a:solidFill>
                <a:latin typeface="Cambria" pitchFamily="34" charset="0"/>
                <a:ea typeface="Cambria" pitchFamily="34" charset="-122"/>
                <a:cs typeface="Cambria" pitchFamily="34" charset="-120"/>
              </a:rPr>
              <a:t>&lt; 1 s</a:t>
            </a:r>
            <a:endParaRPr lang="en-US" sz="1600" dirty="0"/>
          </a:p>
        </p:txBody>
      </p:sp>
      <p:sp>
        <p:nvSpPr>
          <p:cNvPr id="10" name="Text 8"/>
          <p:cNvSpPr/>
          <p:nvPr/>
        </p:nvSpPr>
        <p:spPr>
          <a:xfrm>
            <a:off x="6309360" y="1865376"/>
            <a:ext cx="2148840" cy="420624"/>
          </a:xfrm>
          <a:prstGeom prst="rect">
            <a:avLst/>
          </a:prstGeom>
          <a:noFill/>
          <a:ln/>
        </p:spPr>
        <p:txBody>
          <a:bodyPr wrap="square" lIns="0" tIns="0" rIns="0" bIns="0" rtlCol="0" anchor="ctr"/>
          <a:lstStyle/>
          <a:p>
            <a:pPr indent="0" marL="0">
              <a:buNone/>
            </a:pPr>
            <a:r>
              <a:rPr lang="en-US" sz="1050" i="1" dirty="0">
                <a:solidFill>
                  <a:srgbClr val="5A6478"/>
                </a:solidFill>
                <a:latin typeface="Calibri" pitchFamily="34" charset="0"/>
                <a:ea typeface="Calibri" pitchFamily="34" charset="-122"/>
                <a:cs typeface="Calibri" pitchFamily="34" charset="-120"/>
              </a:rPr>
              <a:t>fraction de seconde</a:t>
            </a:r>
            <a:endParaRPr lang="en-US" sz="1050" dirty="0"/>
          </a:p>
        </p:txBody>
      </p:sp>
      <p:sp>
        <p:nvSpPr>
          <p:cNvPr id="11" name="Shape 9"/>
          <p:cNvSpPr/>
          <p:nvPr/>
        </p:nvSpPr>
        <p:spPr>
          <a:xfrm>
            <a:off x="502920" y="2414016"/>
            <a:ext cx="8138160" cy="530352"/>
          </a:xfrm>
          <a:prstGeom prst="roundRect">
            <a:avLst>
              <a:gd name="adj" fmla="val 10345"/>
            </a:avLst>
          </a:prstGeom>
          <a:solidFill>
            <a:srgbClr val="F4F6F9"/>
          </a:solidFill>
          <a:ln w="12700">
            <a:solidFill>
              <a:srgbClr val="F4F6F9"/>
            </a:solidFill>
            <a:prstDash val="solid"/>
          </a:ln>
        </p:spPr>
      </p:sp>
      <p:sp>
        <p:nvSpPr>
          <p:cNvPr id="12" name="Text 10"/>
          <p:cNvSpPr/>
          <p:nvPr/>
        </p:nvSpPr>
        <p:spPr>
          <a:xfrm>
            <a:off x="704088" y="2468880"/>
            <a:ext cx="3794760" cy="420624"/>
          </a:xfrm>
          <a:prstGeom prst="rect">
            <a:avLst/>
          </a:prstGeom>
          <a:noFill/>
          <a:ln/>
        </p:spPr>
        <p:txBody>
          <a:bodyPr wrap="square" lIns="0" tIns="0" rIns="0" bIns="0" rtlCol="0" anchor="ctr"/>
          <a:lstStyle/>
          <a:p>
            <a:pPr indent="0" marL="0">
              <a:buNone/>
            </a:pPr>
            <a:r>
              <a:rPr lang="en-US" sz="1200" dirty="0">
                <a:solidFill>
                  <a:srgbClr val="1B2233"/>
                </a:solidFill>
                <a:latin typeface="Calibri" pitchFamily="34" charset="0"/>
                <a:ea typeface="Calibri" pitchFamily="34" charset="-122"/>
                <a:cs typeface="Calibri" pitchFamily="34" charset="-120"/>
              </a:rPr>
              <a:t>Freeze hard-label — 256 neurones</a:t>
            </a:r>
            <a:endParaRPr lang="en-US" sz="1200" dirty="0"/>
          </a:p>
        </p:txBody>
      </p:sp>
      <p:sp>
        <p:nvSpPr>
          <p:cNvPr id="13" name="Text 11"/>
          <p:cNvSpPr/>
          <p:nvPr/>
        </p:nvSpPr>
        <p:spPr>
          <a:xfrm>
            <a:off x="4526280" y="2468880"/>
            <a:ext cx="1600200" cy="420624"/>
          </a:xfrm>
          <a:prstGeom prst="rect">
            <a:avLst/>
          </a:prstGeom>
          <a:noFill/>
          <a:ln/>
        </p:spPr>
        <p:txBody>
          <a:bodyPr wrap="square" lIns="0" tIns="0" rIns="0" bIns="0" rtlCol="0" anchor="ctr"/>
          <a:lstStyle/>
          <a:p>
            <a:pPr algn="r" indent="0" marL="0">
              <a:buNone/>
            </a:pPr>
            <a:r>
              <a:rPr lang="en-US" sz="1600" b="1" dirty="0">
                <a:solidFill>
                  <a:srgbClr val="1C7293"/>
                </a:solidFill>
                <a:latin typeface="Cambria" pitchFamily="34" charset="0"/>
                <a:ea typeface="Cambria" pitchFamily="34" charset="-122"/>
                <a:cs typeface="Cambria" pitchFamily="34" charset="-120"/>
              </a:rPr>
              <a:t>33,4 s</a:t>
            </a:r>
            <a:endParaRPr lang="en-US" sz="1600" dirty="0"/>
          </a:p>
        </p:txBody>
      </p:sp>
      <p:sp>
        <p:nvSpPr>
          <p:cNvPr id="14" name="Text 12"/>
          <p:cNvSpPr/>
          <p:nvPr/>
        </p:nvSpPr>
        <p:spPr>
          <a:xfrm>
            <a:off x="6309360" y="2468880"/>
            <a:ext cx="2148840" cy="420624"/>
          </a:xfrm>
          <a:prstGeom prst="rect">
            <a:avLst/>
          </a:prstGeom>
          <a:noFill/>
          <a:ln/>
        </p:spPr>
        <p:txBody>
          <a:bodyPr wrap="square" lIns="0" tIns="0" rIns="0" bIns="0" rtlCol="0" anchor="ctr"/>
          <a:lstStyle/>
          <a:p>
            <a:pPr indent="0" marL="0">
              <a:buNone/>
            </a:pPr>
            <a:r>
              <a:rPr lang="en-US" sz="1050" i="1" dirty="0">
                <a:solidFill>
                  <a:srgbClr val="5A6478"/>
                </a:solidFill>
                <a:latin typeface="Calibri" pitchFamily="34" charset="0"/>
                <a:ea typeface="Calibri" pitchFamily="34" charset="-122"/>
                <a:cs typeface="Calibri" pitchFamily="34" charset="-120"/>
              </a:rPr>
              <a:t>×6,5 plus rapide que l'état de l'art</a:t>
            </a:r>
            <a:endParaRPr lang="en-US" sz="1050" dirty="0"/>
          </a:p>
        </p:txBody>
      </p:sp>
      <p:sp>
        <p:nvSpPr>
          <p:cNvPr id="15" name="Text 13"/>
          <p:cNvSpPr/>
          <p:nvPr/>
        </p:nvSpPr>
        <p:spPr>
          <a:xfrm>
            <a:off x="704088" y="3072384"/>
            <a:ext cx="3794760" cy="420624"/>
          </a:xfrm>
          <a:prstGeom prst="rect">
            <a:avLst/>
          </a:prstGeom>
          <a:noFill/>
          <a:ln/>
        </p:spPr>
        <p:txBody>
          <a:bodyPr wrap="square" lIns="0" tIns="0" rIns="0" bIns="0" rtlCol="0" anchor="ctr"/>
          <a:lstStyle/>
          <a:p>
            <a:pPr indent="0" marL="0">
              <a:buNone/>
            </a:pPr>
            <a:r>
              <a:rPr lang="en-US" sz="1200" dirty="0">
                <a:solidFill>
                  <a:srgbClr val="1B2233"/>
                </a:solidFill>
                <a:latin typeface="Calibri" pitchFamily="34" charset="0"/>
                <a:ea typeface="Calibri" pitchFamily="34" charset="-122"/>
                <a:cs typeface="Calibri" pitchFamily="34" charset="-120"/>
              </a:rPr>
              <a:t>SOE en réutilisant la normale m</a:t>
            </a:r>
            <a:endParaRPr lang="en-US" sz="1200" dirty="0"/>
          </a:p>
        </p:txBody>
      </p:sp>
      <p:sp>
        <p:nvSpPr>
          <p:cNvPr id="16" name="Text 14"/>
          <p:cNvSpPr/>
          <p:nvPr/>
        </p:nvSpPr>
        <p:spPr>
          <a:xfrm>
            <a:off x="4526280" y="3072384"/>
            <a:ext cx="1600200" cy="420624"/>
          </a:xfrm>
          <a:prstGeom prst="rect">
            <a:avLst/>
          </a:prstGeom>
          <a:noFill/>
          <a:ln/>
        </p:spPr>
        <p:txBody>
          <a:bodyPr wrap="square" lIns="0" tIns="0" rIns="0" bIns="0" rtlCol="0" anchor="ctr"/>
          <a:lstStyle/>
          <a:p>
            <a:pPr algn="r" indent="0" marL="0">
              <a:buNone/>
            </a:pPr>
            <a:r>
              <a:rPr lang="en-US" sz="1600" b="1" dirty="0">
                <a:solidFill>
                  <a:srgbClr val="1C7293"/>
                </a:solidFill>
                <a:latin typeface="Cambria" pitchFamily="34" charset="0"/>
                <a:ea typeface="Cambria" pitchFamily="34" charset="-122"/>
                <a:cs typeface="Cambria" pitchFamily="34" charset="-120"/>
              </a:rPr>
              <a:t>0,22 – 0,50 s</a:t>
            </a:r>
            <a:endParaRPr lang="en-US" sz="1600" dirty="0"/>
          </a:p>
        </p:txBody>
      </p:sp>
      <p:sp>
        <p:nvSpPr>
          <p:cNvPr id="17" name="Text 15"/>
          <p:cNvSpPr/>
          <p:nvPr/>
        </p:nvSpPr>
        <p:spPr>
          <a:xfrm>
            <a:off x="6309360" y="3072384"/>
            <a:ext cx="2148840" cy="420624"/>
          </a:xfrm>
          <a:prstGeom prst="rect">
            <a:avLst/>
          </a:prstGeom>
          <a:noFill/>
          <a:ln/>
        </p:spPr>
        <p:txBody>
          <a:bodyPr wrap="square" lIns="0" tIns="0" rIns="0" bIns="0" rtlCol="0" anchor="ctr"/>
          <a:lstStyle/>
          <a:p>
            <a:pPr indent="0" marL="0">
              <a:buNone/>
            </a:pPr>
            <a:r>
              <a:rPr lang="en-US" sz="1050" i="1" dirty="0">
                <a:solidFill>
                  <a:srgbClr val="5A6478"/>
                </a:solidFill>
                <a:latin typeface="Calibri" pitchFamily="34" charset="0"/>
                <a:ea typeface="Calibri" pitchFamily="34" charset="-122"/>
                <a:cs typeface="Calibri" pitchFamily="34" charset="-120"/>
              </a:rPr>
              <a:t>aucune requête supplémentaire</a:t>
            </a:r>
            <a:endParaRPr lang="en-US" sz="1050" dirty="0"/>
          </a:p>
        </p:txBody>
      </p:sp>
      <p:sp>
        <p:nvSpPr>
          <p:cNvPr id="18" name="Shape 16"/>
          <p:cNvSpPr/>
          <p:nvPr/>
        </p:nvSpPr>
        <p:spPr>
          <a:xfrm>
            <a:off x="502920" y="3621024"/>
            <a:ext cx="8138160" cy="530352"/>
          </a:xfrm>
          <a:prstGeom prst="roundRect">
            <a:avLst>
              <a:gd name="adj" fmla="val 10345"/>
            </a:avLst>
          </a:prstGeom>
          <a:solidFill>
            <a:srgbClr val="F4F6F9"/>
          </a:solidFill>
          <a:ln w="12700">
            <a:solidFill>
              <a:srgbClr val="F4F6F9"/>
            </a:solidFill>
            <a:prstDash val="solid"/>
          </a:ln>
        </p:spPr>
      </p:sp>
      <p:sp>
        <p:nvSpPr>
          <p:cNvPr id="19" name="Text 17"/>
          <p:cNvSpPr/>
          <p:nvPr/>
        </p:nvSpPr>
        <p:spPr>
          <a:xfrm>
            <a:off x="704088" y="3675888"/>
            <a:ext cx="3794760" cy="420624"/>
          </a:xfrm>
          <a:prstGeom prst="rect">
            <a:avLst/>
          </a:prstGeom>
          <a:noFill/>
          <a:ln/>
        </p:spPr>
        <p:txBody>
          <a:bodyPr wrap="square" lIns="0" tIns="0" rIns="0" bIns="0" rtlCol="0" anchor="ctr"/>
          <a:lstStyle/>
          <a:p>
            <a:pPr indent="0" marL="0">
              <a:buNone/>
            </a:pPr>
            <a:r>
              <a:rPr lang="en-US" sz="1200" dirty="0">
                <a:solidFill>
                  <a:srgbClr val="1B2233"/>
                </a:solidFill>
                <a:latin typeface="Calibri" pitchFamily="34" charset="0"/>
                <a:ea typeface="Calibri" pitchFamily="34" charset="-122"/>
                <a:cs typeface="Calibri" pitchFamily="34" charset="-120"/>
              </a:rPr>
              <a:t>Distance résiduelle à la frontière</a:t>
            </a:r>
            <a:endParaRPr lang="en-US" sz="1200" dirty="0"/>
          </a:p>
        </p:txBody>
      </p:sp>
      <p:sp>
        <p:nvSpPr>
          <p:cNvPr id="20" name="Text 18"/>
          <p:cNvSpPr/>
          <p:nvPr/>
        </p:nvSpPr>
        <p:spPr>
          <a:xfrm>
            <a:off x="4526280" y="3675888"/>
            <a:ext cx="1600200" cy="420624"/>
          </a:xfrm>
          <a:prstGeom prst="rect">
            <a:avLst/>
          </a:prstGeom>
          <a:noFill/>
          <a:ln/>
        </p:spPr>
        <p:txBody>
          <a:bodyPr wrap="square" lIns="0" tIns="0" rIns="0" bIns="0" rtlCol="0" anchor="ctr"/>
          <a:lstStyle/>
          <a:p>
            <a:pPr algn="r" indent="0" marL="0">
              <a:buNone/>
            </a:pPr>
            <a:r>
              <a:rPr lang="en-US" sz="1600" b="1" dirty="0">
                <a:solidFill>
                  <a:srgbClr val="E8A33D"/>
                </a:solidFill>
                <a:latin typeface="Cambria" pitchFamily="34" charset="0"/>
                <a:ea typeface="Cambria" pitchFamily="34" charset="-122"/>
                <a:cs typeface="Cambria" pitchFamily="34" charset="-120"/>
              </a:rPr>
              <a:t>≈ 10⁻¹³</a:t>
            </a:r>
            <a:endParaRPr lang="en-US" sz="1600" dirty="0"/>
          </a:p>
        </p:txBody>
      </p:sp>
      <p:sp>
        <p:nvSpPr>
          <p:cNvPr id="21" name="Text 19"/>
          <p:cNvSpPr/>
          <p:nvPr/>
        </p:nvSpPr>
        <p:spPr>
          <a:xfrm>
            <a:off x="6309360" y="3675888"/>
            <a:ext cx="2148840" cy="420624"/>
          </a:xfrm>
          <a:prstGeom prst="rect">
            <a:avLst/>
          </a:prstGeom>
          <a:noFill/>
          <a:ln/>
        </p:spPr>
        <p:txBody>
          <a:bodyPr wrap="square" lIns="0" tIns="0" rIns="0" bIns="0" rtlCol="0" anchor="ctr"/>
          <a:lstStyle/>
          <a:p>
            <a:pPr indent="0" marL="0">
              <a:buNone/>
            </a:pPr>
            <a:r>
              <a:rPr lang="en-US" sz="1050" i="1" dirty="0">
                <a:solidFill>
                  <a:srgbClr val="5A6478"/>
                </a:solidFill>
                <a:latin typeface="Calibri" pitchFamily="34" charset="0"/>
                <a:ea typeface="Calibri" pitchFamily="34" charset="-122"/>
                <a:cs typeface="Calibri" pitchFamily="34" charset="-120"/>
              </a:rPr>
              <a:t>proche de la limite du flottant 64 bits</a:t>
            </a:r>
            <a:endParaRPr lang="en-US" sz="1050" dirty="0"/>
          </a:p>
        </p:txBody>
      </p:sp>
      <p:sp>
        <p:nvSpPr>
          <p:cNvPr id="22" name="Shape 20"/>
          <p:cNvSpPr/>
          <p:nvPr/>
        </p:nvSpPr>
        <p:spPr>
          <a:xfrm>
            <a:off x="502920" y="4279392"/>
            <a:ext cx="8138160" cy="457200"/>
          </a:xfrm>
          <a:prstGeom prst="roundRect">
            <a:avLst>
              <a:gd name="adj" fmla="val 12000"/>
            </a:avLst>
          </a:prstGeom>
          <a:solidFill>
            <a:srgbClr val="FDF2E0"/>
          </a:solidFill>
          <a:ln w="12700">
            <a:solidFill>
              <a:srgbClr val="FDF2E0"/>
            </a:solidFill>
            <a:prstDash val="solid"/>
          </a:ln>
        </p:spPr>
      </p:sp>
      <p:sp>
        <p:nvSpPr>
          <p:cNvPr id="23" name="Text 21"/>
          <p:cNvSpPr/>
          <p:nvPr/>
        </p:nvSpPr>
        <p:spPr>
          <a:xfrm>
            <a:off x="704088" y="4343400"/>
            <a:ext cx="7772400" cy="329184"/>
          </a:xfrm>
          <a:prstGeom prst="rect">
            <a:avLst/>
          </a:prstGeom>
          <a:noFill/>
          <a:ln/>
        </p:spPr>
        <p:txBody>
          <a:bodyPr wrap="square" lIns="0" tIns="0" rIns="0" bIns="0" rtlCol="0" anchor="ctr"/>
          <a:lstStyle/>
          <a:p>
            <a:pPr indent="0" marL="0">
              <a:buNone/>
            </a:pPr>
            <a:r>
              <a:rPr lang="en-US" sz="1150" b="1" dirty="0">
                <a:solidFill>
                  <a:srgbClr val="8A5A10"/>
                </a:solidFill>
                <a:latin typeface="Calibri" pitchFamily="34" charset="0"/>
                <a:ea typeface="Calibri" pitchFamily="34" charset="-122"/>
                <a:cs typeface="Calibri" pitchFamily="34" charset="-120"/>
              </a:rPr>
              <a:t>Le goulot d'étranglement n'est pas l'algèbre : c'est la recherche de points de transition. C'est là que se situent le levier d'optimisation et la cible d'une défense.</a:t>
            </a:r>
            <a:endParaRPr lang="en-US" sz="1150" dirty="0"/>
          </a:p>
        </p:txBody>
      </p:sp>
      <p:sp>
        <p:nvSpPr>
          <p:cNvPr id="24" name="Text 22"/>
          <p:cNvSpPr/>
          <p:nvPr/>
        </p:nvSpPr>
        <p:spPr>
          <a:xfrm>
            <a:off x="502920" y="4759452"/>
            <a:ext cx="4572000" cy="228600"/>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T. Diallo — Bilan S1 — EPT / EDPT</a:t>
            </a:r>
            <a:endParaRPr lang="en-US" sz="900" dirty="0"/>
          </a:p>
        </p:txBody>
      </p:sp>
      <p:sp>
        <p:nvSpPr>
          <p:cNvPr id="25" name="Text 23"/>
          <p:cNvSpPr/>
          <p:nvPr/>
        </p:nvSpPr>
        <p:spPr>
          <a:xfrm>
            <a:off x="8183880" y="4759452"/>
            <a:ext cx="457200" cy="228600"/>
          </a:xfrm>
          <a:prstGeom prst="rect">
            <a:avLst/>
          </a:prstGeom>
          <a:noFill/>
          <a:ln/>
        </p:spPr>
        <p:txBody>
          <a:bodyPr wrap="square" lIns="0" tIns="0" rIns="0" bIns="0" rtlCol="0" anchor="ctr"/>
          <a:lstStyle/>
          <a:p>
            <a:pPr algn="r" indent="0" marL="0">
              <a:buNone/>
            </a:pPr>
            <a:r>
              <a:rPr lang="en-US" sz="900" dirty="0">
                <a:solidFill>
                  <a:srgbClr val="5A647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1097280" y="3108960"/>
            <a:ext cx="3108960" cy="3108960"/>
          </a:xfrm>
          <a:prstGeom prst="ellipse">
            <a:avLst/>
          </a:prstGeom>
          <a:solidFill>
            <a:srgbClr val="065A82"/>
          </a:solidFill>
          <a:ln w="12700">
            <a:solidFill>
              <a:srgbClr val="333333"/>
            </a:solidFill>
            <a:prstDash val="solid"/>
          </a:ln>
        </p:spPr>
      </p:sp>
      <p:sp>
        <p:nvSpPr>
          <p:cNvPr id="3" name="Text 1"/>
          <p:cNvSpPr/>
          <p:nvPr/>
        </p:nvSpPr>
        <p:spPr>
          <a:xfrm>
            <a:off x="502920" y="822960"/>
            <a:ext cx="813816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LE CONSTAT DU SEMESTRE</a:t>
            </a:r>
            <a:endParaRPr lang="en-US" sz="1200" dirty="0"/>
          </a:p>
        </p:txBody>
      </p:sp>
      <p:sp>
        <p:nvSpPr>
          <p:cNvPr id="4" name="Text 2"/>
          <p:cNvSpPr/>
          <p:nvPr/>
        </p:nvSpPr>
        <p:spPr>
          <a:xfrm>
            <a:off x="502920" y="1234440"/>
            <a:ext cx="7863840" cy="1097280"/>
          </a:xfrm>
          <a:prstGeom prst="rect">
            <a:avLst/>
          </a:prstGeom>
          <a:noFill/>
          <a:ln/>
        </p:spPr>
        <p:txBody>
          <a:bodyPr wrap="square" lIns="0" tIns="0" rIns="0" bIns="0" rtlCol="0" anchor="ctr"/>
          <a:lstStyle/>
          <a:p>
            <a:pPr indent="0" marL="0">
              <a:lnSpc>
                <a:spcPts val="4200"/>
              </a:lnSpc>
              <a:buNone/>
            </a:pPr>
            <a:r>
              <a:rPr lang="en-US" sz="3400" b="1" dirty="0">
                <a:solidFill>
                  <a:srgbClr val="FFFFFF"/>
                </a:solidFill>
                <a:latin typeface="Cambria" pitchFamily="34" charset="0"/>
                <a:ea typeface="Cambria" pitchFamily="34" charset="-122"/>
                <a:cs typeface="Cambria" pitchFamily="34" charset="-120"/>
              </a:rPr>
              <a:t>Le domaine a bougé plus vite</a:t>
            </a:r>
            <a:endParaRPr lang="en-US" sz="3400" dirty="0"/>
          </a:p>
          <a:p>
            <a:pPr indent="0" marL="0">
              <a:lnSpc>
                <a:spcPts val="4200"/>
              </a:lnSpc>
              <a:buNone/>
            </a:pPr>
            <a:r>
              <a:rPr lang="en-US" sz="3400" b="1" dirty="0">
                <a:solidFill>
                  <a:srgbClr val="FFFFFF"/>
                </a:solidFill>
                <a:latin typeface="Cambria" pitchFamily="34" charset="0"/>
                <a:ea typeface="Cambria" pitchFamily="34" charset="-122"/>
                <a:cs typeface="Cambria" pitchFamily="34" charset="-120"/>
              </a:rPr>
              <a:t>que le projet ne l'anticipait</a:t>
            </a:r>
            <a:endParaRPr lang="en-US" sz="3400" dirty="0"/>
          </a:p>
        </p:txBody>
      </p:sp>
      <p:sp>
        <p:nvSpPr>
          <p:cNvPr id="5" name="Shape 3"/>
          <p:cNvSpPr/>
          <p:nvPr/>
        </p:nvSpPr>
        <p:spPr>
          <a:xfrm>
            <a:off x="502920" y="2487168"/>
            <a:ext cx="1371600" cy="0"/>
          </a:xfrm>
          <a:prstGeom prst="line">
            <a:avLst/>
          </a:prstGeom>
          <a:noFill/>
          <a:ln w="25400">
            <a:solidFill>
              <a:srgbClr val="E8A33D"/>
            </a:solidFill>
            <a:prstDash val="solid"/>
          </a:ln>
        </p:spPr>
      </p:sp>
      <p:sp>
        <p:nvSpPr>
          <p:cNvPr id="6" name="Text 4"/>
          <p:cNvSpPr/>
          <p:nvPr/>
        </p:nvSpPr>
        <p:spPr>
          <a:xfrm>
            <a:off x="502920" y="2724912"/>
            <a:ext cx="6949440" cy="868680"/>
          </a:xfrm>
          <a:prstGeom prst="rect">
            <a:avLst/>
          </a:prstGeom>
          <a:noFill/>
          <a:ln/>
        </p:spPr>
        <p:txBody>
          <a:bodyPr wrap="square" lIns="0" tIns="0" rIns="0" bIns="0" rtlCol="0" anchor="ctr"/>
          <a:lstStyle/>
          <a:p>
            <a:pPr indent="0" marL="0">
              <a:lnSpc>
                <a:spcPts val="2100"/>
              </a:lnSpc>
              <a:buNone/>
            </a:pPr>
            <a:r>
              <a:rPr lang="en-US" sz="1400" dirty="0">
                <a:solidFill>
                  <a:srgbClr val="C7D3E8"/>
                </a:solidFill>
                <a:latin typeface="Calibri" pitchFamily="34" charset="0"/>
                <a:ea typeface="Calibri" pitchFamily="34" charset="-122"/>
                <a:cs typeface="Calibri" pitchFamily="34" charset="-120"/>
              </a:rPr>
              <a:t>Le projet a été déposé le 24 décembre 2025.</a:t>
            </a:r>
            <a:endParaRPr lang="en-US" sz="1400" dirty="0"/>
          </a:p>
          <a:p>
            <a:pPr indent="0" marL="0">
              <a:lnSpc>
                <a:spcPts val="2100"/>
              </a:lnSpc>
              <a:buNone/>
            </a:pPr>
            <a:r>
              <a:rPr lang="en-US" sz="1400" dirty="0">
                <a:solidFill>
                  <a:srgbClr val="C7D3E8"/>
                </a:solidFill>
                <a:latin typeface="Calibri" pitchFamily="34" charset="0"/>
                <a:ea typeface="Calibri" pitchFamily="34" charset="-122"/>
                <a:cs typeface="Calibri" pitchFamily="34" charset="-120"/>
              </a:rPr>
              <a:t>Entre janvier et juin 2026, au moins huit publications majeures sont parues sur des cibles annoncées dans le projet.</a:t>
            </a:r>
            <a:endParaRPr lang="en-US" sz="1400" dirty="0"/>
          </a:p>
        </p:txBody>
      </p:sp>
      <p:sp>
        <p:nvSpPr>
          <p:cNvPr id="7" name="Text 5"/>
          <p:cNvSpPr/>
          <p:nvPr/>
        </p:nvSpPr>
        <p:spPr>
          <a:xfrm>
            <a:off x="502920" y="3730752"/>
            <a:ext cx="6949440" cy="640080"/>
          </a:xfrm>
          <a:prstGeom prst="rect">
            <a:avLst/>
          </a:prstGeom>
          <a:noFill/>
          <a:ln/>
        </p:spPr>
        <p:txBody>
          <a:bodyPr wrap="square" lIns="0" tIns="0" rIns="0" bIns="0" rtlCol="0" anchor="ctr"/>
          <a:lstStyle/>
          <a:p>
            <a:pPr indent="0" marL="0">
              <a:lnSpc>
                <a:spcPts val="1900"/>
              </a:lnSpc>
              <a:buNone/>
            </a:pPr>
            <a:r>
              <a:rPr lang="en-US" sz="1300" i="1" dirty="0">
                <a:solidFill>
                  <a:srgbClr val="FFFFFF"/>
                </a:solidFill>
                <a:latin typeface="Calibri" pitchFamily="34" charset="0"/>
                <a:ea typeface="Calibri" pitchFamily="34" charset="-122"/>
                <a:cs typeface="Calibri" pitchFamily="34" charset="-120"/>
              </a:rPr>
              <a:t>Ce n'est pas un revers : c'est la confirmation que le sujet est au centre de l'attention internationale. Mais il impose un repositionnement immédiat.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138160" cy="219456"/>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CARTOGRAPHIE DE LA CONCURRENCE</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Ce qui a été publié en 2026</a:t>
            </a:r>
            <a:endParaRPr lang="en-US" sz="3000" dirty="0"/>
          </a:p>
        </p:txBody>
      </p:sp>
      <p:sp>
        <p:nvSpPr>
          <p:cNvPr id="4" name="Shape 2"/>
          <p:cNvSpPr/>
          <p:nvPr/>
        </p:nvSpPr>
        <p:spPr>
          <a:xfrm>
            <a:off x="502920" y="1152144"/>
            <a:ext cx="8138160" cy="457200"/>
          </a:xfrm>
          <a:prstGeom prst="roundRect">
            <a:avLst>
              <a:gd name="adj" fmla="val 12000"/>
            </a:avLst>
          </a:prstGeom>
          <a:solidFill>
            <a:srgbClr val="F4F6F9"/>
          </a:solidFill>
          <a:ln w="12700">
            <a:solidFill>
              <a:srgbClr val="F4F6F9"/>
            </a:solidFill>
            <a:prstDash val="solid"/>
          </a:ln>
        </p:spPr>
      </p:sp>
      <p:sp>
        <p:nvSpPr>
          <p:cNvPr id="5" name="Text 3"/>
          <p:cNvSpPr/>
          <p:nvPr/>
        </p:nvSpPr>
        <p:spPr>
          <a:xfrm>
            <a:off x="685800" y="1179576"/>
            <a:ext cx="3931920" cy="402336"/>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Activations lisses (GELU, SiLU, SELU, sigmoïde)</a:t>
            </a:r>
            <a:endParaRPr lang="en-US" sz="1150" dirty="0"/>
          </a:p>
        </p:txBody>
      </p:sp>
      <p:sp>
        <p:nvSpPr>
          <p:cNvPr id="6" name="Text 4"/>
          <p:cNvSpPr/>
          <p:nvPr/>
        </p:nvSpPr>
        <p:spPr>
          <a:xfrm>
            <a:off x="4663440" y="1179576"/>
            <a:ext cx="2514600" cy="402336"/>
          </a:xfrm>
          <a:prstGeom prst="rect">
            <a:avLst/>
          </a:prstGeom>
          <a:noFill/>
          <a:ln/>
        </p:spPr>
        <p:txBody>
          <a:bodyPr wrap="square" lIns="0" tIns="0" rIns="0" bIns="0" rtlCol="0" anchor="ctr"/>
          <a:lstStyle/>
          <a:p>
            <a:pPr indent="0" marL="0">
              <a:buNone/>
            </a:pPr>
            <a:r>
              <a:rPr lang="en-US" sz="1050" dirty="0">
                <a:solidFill>
                  <a:srgbClr val="5A6478"/>
                </a:solidFill>
                <a:latin typeface="Calibri" pitchFamily="34" charset="0"/>
                <a:ea typeface="Calibri" pitchFamily="34" charset="-122"/>
                <a:cs typeface="Calibri" pitchFamily="34" charset="-120"/>
              </a:rPr>
              <a:t>ePrint 2026/253 — NTU</a:t>
            </a:r>
            <a:endParaRPr lang="en-US" sz="1050" dirty="0"/>
          </a:p>
        </p:txBody>
      </p:sp>
      <p:sp>
        <p:nvSpPr>
          <p:cNvPr id="7" name="Shape 5"/>
          <p:cNvSpPr/>
          <p:nvPr/>
        </p:nvSpPr>
        <p:spPr>
          <a:xfrm>
            <a:off x="7269480" y="1243584"/>
            <a:ext cx="1188720" cy="274320"/>
          </a:xfrm>
          <a:prstGeom prst="roundRect">
            <a:avLst>
              <a:gd name="adj" fmla="val 16667"/>
            </a:avLst>
          </a:prstGeom>
          <a:solidFill>
            <a:srgbClr val="E8A33D"/>
          </a:solidFill>
          <a:ln w="12700">
            <a:solidFill>
              <a:srgbClr val="333333"/>
            </a:solidFill>
            <a:prstDash val="solid"/>
          </a:ln>
        </p:spPr>
      </p:sp>
      <p:sp>
        <p:nvSpPr>
          <p:cNvPr id="8" name="Text 6"/>
          <p:cNvSpPr/>
          <p:nvPr/>
        </p:nvSpPr>
        <p:spPr>
          <a:xfrm>
            <a:off x="7269480" y="1243584"/>
            <a:ext cx="11887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raw-output</a:t>
            </a:r>
            <a:endParaRPr lang="en-US" sz="900" dirty="0"/>
          </a:p>
        </p:txBody>
      </p:sp>
      <p:sp>
        <p:nvSpPr>
          <p:cNvPr id="9" name="Shape 7"/>
          <p:cNvSpPr/>
          <p:nvPr/>
        </p:nvSpPr>
        <p:spPr>
          <a:xfrm>
            <a:off x="502920" y="1682496"/>
            <a:ext cx="8138160" cy="457200"/>
          </a:xfrm>
          <a:prstGeom prst="roundRect">
            <a:avLst>
              <a:gd name="adj" fmla="val 12000"/>
            </a:avLst>
          </a:prstGeom>
          <a:solidFill>
            <a:srgbClr val="F4F6F9"/>
          </a:solidFill>
          <a:ln w="12700">
            <a:solidFill>
              <a:srgbClr val="F4F6F9"/>
            </a:solidFill>
            <a:prstDash val="solid"/>
          </a:ln>
        </p:spPr>
      </p:sp>
      <p:sp>
        <p:nvSpPr>
          <p:cNvPr id="10" name="Text 8"/>
          <p:cNvSpPr/>
          <p:nvPr/>
        </p:nvSpPr>
        <p:spPr>
          <a:xfrm>
            <a:off x="685800" y="1709928"/>
            <a:ext cx="3931920" cy="402336"/>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Activations variées (Leaky ReLU, ELU, HardTanh, Step)</a:t>
            </a:r>
            <a:endParaRPr lang="en-US" sz="1150" dirty="0"/>
          </a:p>
        </p:txBody>
      </p:sp>
      <p:sp>
        <p:nvSpPr>
          <p:cNvPr id="11" name="Text 9"/>
          <p:cNvSpPr/>
          <p:nvPr/>
        </p:nvSpPr>
        <p:spPr>
          <a:xfrm>
            <a:off x="4663440" y="1709928"/>
            <a:ext cx="2514600" cy="402336"/>
          </a:xfrm>
          <a:prstGeom prst="rect">
            <a:avLst/>
          </a:prstGeom>
          <a:noFill/>
          <a:ln/>
        </p:spPr>
        <p:txBody>
          <a:bodyPr wrap="square" lIns="0" tIns="0" rIns="0" bIns="0" rtlCol="0" anchor="ctr"/>
          <a:lstStyle/>
          <a:p>
            <a:pPr indent="0" marL="0">
              <a:buNone/>
            </a:pPr>
            <a:r>
              <a:rPr lang="en-US" sz="1050" dirty="0">
                <a:solidFill>
                  <a:srgbClr val="5A6478"/>
                </a:solidFill>
                <a:latin typeface="Calibri" pitchFamily="34" charset="0"/>
                <a:ea typeface="Calibri" pitchFamily="34" charset="-122"/>
                <a:cs typeface="Calibri" pitchFamily="34" charset="-120"/>
              </a:rPr>
              <a:t>IACR ToSC 2026(1) — Qi et al.</a:t>
            </a:r>
            <a:endParaRPr lang="en-US" sz="1050" dirty="0"/>
          </a:p>
        </p:txBody>
      </p:sp>
      <p:sp>
        <p:nvSpPr>
          <p:cNvPr id="12" name="Shape 10"/>
          <p:cNvSpPr/>
          <p:nvPr/>
        </p:nvSpPr>
        <p:spPr>
          <a:xfrm>
            <a:off x="7269480" y="1773936"/>
            <a:ext cx="1188720" cy="274320"/>
          </a:xfrm>
          <a:prstGeom prst="roundRect">
            <a:avLst>
              <a:gd name="adj" fmla="val 16667"/>
            </a:avLst>
          </a:prstGeom>
          <a:solidFill>
            <a:srgbClr val="E8A33D"/>
          </a:solidFill>
          <a:ln w="12700">
            <a:solidFill>
              <a:srgbClr val="333333"/>
            </a:solidFill>
            <a:prstDash val="solid"/>
          </a:ln>
        </p:spPr>
      </p:sp>
      <p:sp>
        <p:nvSpPr>
          <p:cNvPr id="13" name="Text 11"/>
          <p:cNvSpPr/>
          <p:nvPr/>
        </p:nvSpPr>
        <p:spPr>
          <a:xfrm>
            <a:off x="7269480" y="1773936"/>
            <a:ext cx="11887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raw-output</a:t>
            </a:r>
            <a:endParaRPr lang="en-US" sz="900" dirty="0"/>
          </a:p>
        </p:txBody>
      </p:sp>
      <p:sp>
        <p:nvSpPr>
          <p:cNvPr id="14" name="Shape 12"/>
          <p:cNvSpPr/>
          <p:nvPr/>
        </p:nvSpPr>
        <p:spPr>
          <a:xfrm>
            <a:off x="502920" y="2212848"/>
            <a:ext cx="8138160" cy="457200"/>
          </a:xfrm>
          <a:prstGeom prst="roundRect">
            <a:avLst>
              <a:gd name="adj" fmla="val 12000"/>
            </a:avLst>
          </a:prstGeom>
          <a:solidFill>
            <a:srgbClr val="F4F6F9"/>
          </a:solidFill>
          <a:ln w="12700">
            <a:solidFill>
              <a:srgbClr val="F4F6F9"/>
            </a:solidFill>
            <a:prstDash val="solid"/>
          </a:ln>
        </p:spPr>
      </p:sp>
      <p:sp>
        <p:nvSpPr>
          <p:cNvPr id="15" name="Text 13"/>
          <p:cNvSpPr/>
          <p:nvPr/>
        </p:nvSpPr>
        <p:spPr>
          <a:xfrm>
            <a:off x="685800" y="2240280"/>
            <a:ext cx="3931920" cy="402336"/>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Réseaux PReLU</a:t>
            </a:r>
            <a:endParaRPr lang="en-US" sz="1150" dirty="0"/>
          </a:p>
        </p:txBody>
      </p:sp>
      <p:sp>
        <p:nvSpPr>
          <p:cNvPr id="16" name="Text 14"/>
          <p:cNvSpPr/>
          <p:nvPr/>
        </p:nvSpPr>
        <p:spPr>
          <a:xfrm>
            <a:off x="4663440" y="2240280"/>
            <a:ext cx="2514600" cy="402336"/>
          </a:xfrm>
          <a:prstGeom prst="rect">
            <a:avLst/>
          </a:prstGeom>
          <a:noFill/>
          <a:ln/>
        </p:spPr>
        <p:txBody>
          <a:bodyPr wrap="square" lIns="0" tIns="0" rIns="0" bIns="0" rtlCol="0" anchor="ctr"/>
          <a:lstStyle/>
          <a:p>
            <a:pPr indent="0" marL="0">
              <a:buNone/>
            </a:pPr>
            <a:r>
              <a:rPr lang="en-US" sz="1050" dirty="0">
                <a:solidFill>
                  <a:srgbClr val="5A6478"/>
                </a:solidFill>
                <a:latin typeface="Calibri" pitchFamily="34" charset="0"/>
                <a:ea typeface="Calibri" pitchFamily="34" charset="-122"/>
                <a:cs typeface="Calibri" pitchFamily="34" charset="-120"/>
              </a:rPr>
              <a:t>ASIACRYPT 2025 — Chen et al.</a:t>
            </a:r>
            <a:endParaRPr lang="en-US" sz="1050" dirty="0"/>
          </a:p>
        </p:txBody>
      </p:sp>
      <p:sp>
        <p:nvSpPr>
          <p:cNvPr id="17" name="Shape 15"/>
          <p:cNvSpPr/>
          <p:nvPr/>
        </p:nvSpPr>
        <p:spPr>
          <a:xfrm>
            <a:off x="7269480" y="2304288"/>
            <a:ext cx="1188720" cy="274320"/>
          </a:xfrm>
          <a:prstGeom prst="roundRect">
            <a:avLst>
              <a:gd name="adj" fmla="val 16667"/>
            </a:avLst>
          </a:prstGeom>
          <a:solidFill>
            <a:srgbClr val="E8A33D"/>
          </a:solidFill>
          <a:ln w="12700">
            <a:solidFill>
              <a:srgbClr val="333333"/>
            </a:solidFill>
            <a:prstDash val="solid"/>
          </a:ln>
        </p:spPr>
      </p:sp>
      <p:sp>
        <p:nvSpPr>
          <p:cNvPr id="18" name="Text 16"/>
          <p:cNvSpPr/>
          <p:nvPr/>
        </p:nvSpPr>
        <p:spPr>
          <a:xfrm>
            <a:off x="7269480" y="2304288"/>
            <a:ext cx="11887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raw-output</a:t>
            </a:r>
            <a:endParaRPr lang="en-US" sz="900" dirty="0"/>
          </a:p>
        </p:txBody>
      </p:sp>
      <p:sp>
        <p:nvSpPr>
          <p:cNvPr id="19" name="Shape 17"/>
          <p:cNvSpPr/>
          <p:nvPr/>
        </p:nvSpPr>
        <p:spPr>
          <a:xfrm>
            <a:off x="502920" y="2743200"/>
            <a:ext cx="8138160" cy="457200"/>
          </a:xfrm>
          <a:prstGeom prst="roundRect">
            <a:avLst>
              <a:gd name="adj" fmla="val 12000"/>
            </a:avLst>
          </a:prstGeom>
          <a:solidFill>
            <a:srgbClr val="F4F6F9"/>
          </a:solidFill>
          <a:ln w="12700">
            <a:solidFill>
              <a:srgbClr val="F4F6F9"/>
            </a:solidFill>
            <a:prstDash val="solid"/>
          </a:ln>
        </p:spPr>
      </p:sp>
      <p:sp>
        <p:nvSpPr>
          <p:cNvPr id="20" name="Text 18"/>
          <p:cNvSpPr/>
          <p:nvPr/>
        </p:nvSpPr>
        <p:spPr>
          <a:xfrm>
            <a:off x="685800" y="2770632"/>
            <a:ext cx="3931920" cy="402336"/>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CNN, max-pooling, average pooling</a:t>
            </a:r>
            <a:endParaRPr lang="en-US" sz="1150" dirty="0"/>
          </a:p>
        </p:txBody>
      </p:sp>
      <p:sp>
        <p:nvSpPr>
          <p:cNvPr id="21" name="Text 19"/>
          <p:cNvSpPr/>
          <p:nvPr/>
        </p:nvSpPr>
        <p:spPr>
          <a:xfrm>
            <a:off x="4663440" y="2770632"/>
            <a:ext cx="2514600" cy="402336"/>
          </a:xfrm>
          <a:prstGeom prst="rect">
            <a:avLst/>
          </a:prstGeom>
          <a:noFill/>
          <a:ln/>
        </p:spPr>
        <p:txBody>
          <a:bodyPr wrap="square" lIns="0" tIns="0" rIns="0" bIns="0" rtlCol="0" anchor="ctr"/>
          <a:lstStyle/>
          <a:p>
            <a:pPr indent="0" marL="0">
              <a:buNone/>
            </a:pPr>
            <a:r>
              <a:rPr lang="en-US" sz="1050" dirty="0">
                <a:solidFill>
                  <a:srgbClr val="5A6478"/>
                </a:solidFill>
                <a:latin typeface="Calibri" pitchFamily="34" charset="0"/>
                <a:ea typeface="Calibri" pitchFamily="34" charset="-122"/>
                <a:cs typeface="Calibri" pitchFamily="34" charset="-120"/>
              </a:rPr>
              <a:t>ePrint 2026/139, /241, /464</a:t>
            </a:r>
            <a:endParaRPr lang="en-US" sz="1050" dirty="0"/>
          </a:p>
        </p:txBody>
      </p:sp>
      <p:sp>
        <p:nvSpPr>
          <p:cNvPr id="22" name="Shape 20"/>
          <p:cNvSpPr/>
          <p:nvPr/>
        </p:nvSpPr>
        <p:spPr>
          <a:xfrm>
            <a:off x="7269480" y="2834640"/>
            <a:ext cx="1188720" cy="274320"/>
          </a:xfrm>
          <a:prstGeom prst="roundRect">
            <a:avLst>
              <a:gd name="adj" fmla="val 16667"/>
            </a:avLst>
          </a:prstGeom>
          <a:solidFill>
            <a:srgbClr val="E8A33D"/>
          </a:solidFill>
          <a:ln w="12700">
            <a:solidFill>
              <a:srgbClr val="333333"/>
            </a:solidFill>
            <a:prstDash val="solid"/>
          </a:ln>
        </p:spPr>
      </p:sp>
      <p:sp>
        <p:nvSpPr>
          <p:cNvPr id="23" name="Text 21"/>
          <p:cNvSpPr/>
          <p:nvPr/>
        </p:nvSpPr>
        <p:spPr>
          <a:xfrm>
            <a:off x="7269480" y="2834640"/>
            <a:ext cx="11887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soft-label</a:t>
            </a:r>
            <a:endParaRPr lang="en-US" sz="900" dirty="0"/>
          </a:p>
        </p:txBody>
      </p:sp>
      <p:sp>
        <p:nvSpPr>
          <p:cNvPr id="24" name="Shape 22"/>
          <p:cNvSpPr/>
          <p:nvPr/>
        </p:nvSpPr>
        <p:spPr>
          <a:xfrm>
            <a:off x="502920" y="3273552"/>
            <a:ext cx="8138160" cy="457200"/>
          </a:xfrm>
          <a:prstGeom prst="roundRect">
            <a:avLst>
              <a:gd name="adj" fmla="val 12000"/>
            </a:avLst>
          </a:prstGeom>
          <a:solidFill>
            <a:srgbClr val="F4F6F9"/>
          </a:solidFill>
          <a:ln w="12700">
            <a:solidFill>
              <a:srgbClr val="F4F6F9"/>
            </a:solidFill>
            <a:prstDash val="solid"/>
          </a:ln>
        </p:spPr>
      </p:sp>
      <p:sp>
        <p:nvSpPr>
          <p:cNvPr id="25" name="Text 23"/>
          <p:cNvSpPr/>
          <p:nvPr/>
        </p:nvSpPr>
        <p:spPr>
          <a:xfrm>
            <a:off x="685800" y="3300984"/>
            <a:ext cx="3931920" cy="402336"/>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CNN en hard-label</a:t>
            </a:r>
            <a:endParaRPr lang="en-US" sz="1150" dirty="0"/>
          </a:p>
        </p:txBody>
      </p:sp>
      <p:sp>
        <p:nvSpPr>
          <p:cNvPr id="26" name="Text 24"/>
          <p:cNvSpPr/>
          <p:nvPr/>
        </p:nvSpPr>
        <p:spPr>
          <a:xfrm>
            <a:off x="4663440" y="3300984"/>
            <a:ext cx="2514600" cy="402336"/>
          </a:xfrm>
          <a:prstGeom prst="rect">
            <a:avLst/>
          </a:prstGeom>
          <a:noFill/>
          <a:ln/>
        </p:spPr>
        <p:txBody>
          <a:bodyPr wrap="square" lIns="0" tIns="0" rIns="0" bIns="0" rtlCol="0" anchor="ctr"/>
          <a:lstStyle/>
          <a:p>
            <a:pPr indent="0" marL="0">
              <a:buNone/>
            </a:pPr>
            <a:r>
              <a:rPr lang="en-US" sz="1050" dirty="0">
                <a:solidFill>
                  <a:srgbClr val="5A6478"/>
                </a:solidFill>
                <a:latin typeface="Calibri" pitchFamily="34" charset="0"/>
                <a:ea typeface="Calibri" pitchFamily="34" charset="-122"/>
                <a:cs typeface="Calibri" pitchFamily="34" charset="-120"/>
              </a:rPr>
              <a:t>ePrint 2026/902 et /1164</a:t>
            </a:r>
            <a:endParaRPr lang="en-US" sz="1050" dirty="0"/>
          </a:p>
        </p:txBody>
      </p:sp>
      <p:sp>
        <p:nvSpPr>
          <p:cNvPr id="27" name="Shape 25"/>
          <p:cNvSpPr/>
          <p:nvPr/>
        </p:nvSpPr>
        <p:spPr>
          <a:xfrm>
            <a:off x="7269480" y="3364992"/>
            <a:ext cx="1188720" cy="274320"/>
          </a:xfrm>
          <a:prstGeom prst="roundRect">
            <a:avLst>
              <a:gd name="adj" fmla="val 16667"/>
            </a:avLst>
          </a:prstGeom>
          <a:solidFill>
            <a:srgbClr val="C0392B"/>
          </a:solidFill>
          <a:ln w="12700">
            <a:solidFill>
              <a:srgbClr val="333333"/>
            </a:solidFill>
            <a:prstDash val="solid"/>
          </a:ln>
        </p:spPr>
      </p:sp>
      <p:sp>
        <p:nvSpPr>
          <p:cNvPr id="28" name="Text 26"/>
          <p:cNvSpPr/>
          <p:nvPr/>
        </p:nvSpPr>
        <p:spPr>
          <a:xfrm>
            <a:off x="7269480" y="3364992"/>
            <a:ext cx="11887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hard-label</a:t>
            </a:r>
            <a:endParaRPr lang="en-US" sz="900" dirty="0"/>
          </a:p>
        </p:txBody>
      </p:sp>
      <p:sp>
        <p:nvSpPr>
          <p:cNvPr id="29" name="Shape 27"/>
          <p:cNvSpPr/>
          <p:nvPr/>
        </p:nvSpPr>
        <p:spPr>
          <a:xfrm>
            <a:off x="502920" y="3803904"/>
            <a:ext cx="8138160" cy="457200"/>
          </a:xfrm>
          <a:prstGeom prst="roundRect">
            <a:avLst>
              <a:gd name="adj" fmla="val 12000"/>
            </a:avLst>
          </a:prstGeom>
          <a:solidFill>
            <a:srgbClr val="E6F2F2"/>
          </a:solidFill>
          <a:ln w="12700">
            <a:solidFill>
              <a:srgbClr val="E6F2F2"/>
            </a:solidFill>
            <a:prstDash val="solid"/>
          </a:ln>
        </p:spPr>
      </p:sp>
      <p:sp>
        <p:nvSpPr>
          <p:cNvPr id="30" name="Text 28"/>
          <p:cNvSpPr/>
          <p:nvPr/>
        </p:nvSpPr>
        <p:spPr>
          <a:xfrm>
            <a:off x="685800" y="3831336"/>
            <a:ext cx="3931920" cy="402336"/>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Défenses contre l'extraction cryptanalytique</a:t>
            </a:r>
            <a:endParaRPr lang="en-US" sz="1150" dirty="0"/>
          </a:p>
        </p:txBody>
      </p:sp>
      <p:sp>
        <p:nvSpPr>
          <p:cNvPr id="31" name="Text 29"/>
          <p:cNvSpPr/>
          <p:nvPr/>
        </p:nvSpPr>
        <p:spPr>
          <a:xfrm>
            <a:off x="4663440" y="3831336"/>
            <a:ext cx="2514600" cy="402336"/>
          </a:xfrm>
          <a:prstGeom prst="rect">
            <a:avLst/>
          </a:prstGeom>
          <a:noFill/>
          <a:ln/>
        </p:spPr>
        <p:txBody>
          <a:bodyPr wrap="square" lIns="0" tIns="0" rIns="0" bIns="0" rtlCol="0" anchor="ctr"/>
          <a:lstStyle/>
          <a:p>
            <a:pPr indent="0" marL="0">
              <a:buNone/>
            </a:pPr>
            <a:r>
              <a:rPr lang="en-US" sz="1050" dirty="0">
                <a:solidFill>
                  <a:srgbClr val="5A6478"/>
                </a:solidFill>
                <a:latin typeface="Calibri" pitchFamily="34" charset="0"/>
                <a:ea typeface="Calibri" pitchFamily="34" charset="-122"/>
                <a:cs typeface="Calibri" pitchFamily="34" charset="-120"/>
              </a:rPr>
              <a:t>arXiv 2509.16546 — une seule publication</a:t>
            </a:r>
            <a:endParaRPr lang="en-US" sz="1050" dirty="0"/>
          </a:p>
        </p:txBody>
      </p:sp>
      <p:sp>
        <p:nvSpPr>
          <p:cNvPr id="32" name="Shape 30"/>
          <p:cNvSpPr/>
          <p:nvPr/>
        </p:nvSpPr>
        <p:spPr>
          <a:xfrm>
            <a:off x="7269480" y="3895344"/>
            <a:ext cx="1188720" cy="274320"/>
          </a:xfrm>
          <a:prstGeom prst="roundRect">
            <a:avLst>
              <a:gd name="adj" fmla="val 16667"/>
            </a:avLst>
          </a:prstGeom>
          <a:solidFill>
            <a:srgbClr val="1C7293"/>
          </a:solidFill>
          <a:ln w="12700">
            <a:solidFill>
              <a:srgbClr val="333333"/>
            </a:solidFill>
            <a:prstDash val="solid"/>
          </a:ln>
        </p:spPr>
      </p:sp>
      <p:sp>
        <p:nvSpPr>
          <p:cNvPr id="33" name="Text 31"/>
          <p:cNvSpPr/>
          <p:nvPr/>
        </p:nvSpPr>
        <p:spPr>
          <a:xfrm>
            <a:off x="7269480" y="3895344"/>
            <a:ext cx="11887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à l'entraînement</a:t>
            </a:r>
            <a:endParaRPr lang="en-US" sz="900" dirty="0"/>
          </a:p>
        </p:txBody>
      </p:sp>
      <p:sp>
        <p:nvSpPr>
          <p:cNvPr id="34" name="Text 32"/>
          <p:cNvSpPr/>
          <p:nvPr/>
        </p:nvSpPr>
        <p:spPr>
          <a:xfrm>
            <a:off x="502920" y="4407408"/>
            <a:ext cx="8138160" cy="274320"/>
          </a:xfrm>
          <a:prstGeom prst="rect">
            <a:avLst/>
          </a:prstGeom>
          <a:noFill/>
          <a:ln/>
        </p:spPr>
        <p:txBody>
          <a:bodyPr wrap="square" lIns="0" tIns="0" rIns="0" bIns="0" rtlCol="0" anchor="ctr"/>
          <a:lstStyle/>
          <a:p>
            <a:pPr indent="0" marL="0">
              <a:buNone/>
            </a:pPr>
            <a:r>
              <a:rPr lang="en-US" sz="1100" i="1" dirty="0">
                <a:solidFill>
                  <a:srgbClr val="5A6478"/>
                </a:solidFill>
                <a:latin typeface="Calibri" pitchFamily="34" charset="0"/>
                <a:ea typeface="Calibri" pitchFamily="34" charset="-122"/>
                <a:cs typeface="Calibri" pitchFamily="34" charset="-120"/>
              </a:rPr>
              <a:t>Les objectifs (i) « au-delà de ReLU » et « architectures convolutionnelles » du projet sont désormais couverts — mais presque tous en raw-output.</a:t>
            </a:r>
            <a:endParaRPr lang="en-US" sz="1100" dirty="0"/>
          </a:p>
        </p:txBody>
      </p:sp>
      <p:sp>
        <p:nvSpPr>
          <p:cNvPr id="35" name="Text 33"/>
          <p:cNvSpPr/>
          <p:nvPr/>
        </p:nvSpPr>
        <p:spPr>
          <a:xfrm>
            <a:off x="502920" y="4759452"/>
            <a:ext cx="4572000" cy="228600"/>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T. Diallo — Bilan S1 — EPT / EDPT</a:t>
            </a:r>
            <a:endParaRPr lang="en-US" sz="900" dirty="0"/>
          </a:p>
        </p:txBody>
      </p:sp>
      <p:sp>
        <p:nvSpPr>
          <p:cNvPr id="36" name="Text 34"/>
          <p:cNvSpPr/>
          <p:nvPr/>
        </p:nvSpPr>
        <p:spPr>
          <a:xfrm>
            <a:off x="8183880" y="4759452"/>
            <a:ext cx="457200" cy="228600"/>
          </a:xfrm>
          <a:prstGeom prst="rect">
            <a:avLst/>
          </a:prstGeom>
          <a:noFill/>
          <a:ln/>
        </p:spPr>
        <p:txBody>
          <a:bodyPr wrap="square" lIns="0" tIns="0" rIns="0" bIns="0" rtlCol="0" anchor="ctr"/>
          <a:lstStyle/>
          <a:p>
            <a:pPr algn="r" indent="0" marL="0">
              <a:buNone/>
            </a:pPr>
            <a:r>
              <a:rPr lang="en-US" sz="900" dirty="0">
                <a:solidFill>
                  <a:srgbClr val="5A647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138160" cy="219456"/>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CROISEMENT ORACLE × ACTIVATION</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Où est le trou</a:t>
            </a:r>
            <a:endParaRPr lang="en-US" sz="3000" dirty="0"/>
          </a:p>
        </p:txBody>
      </p:sp>
      <p:sp>
        <p:nvSpPr>
          <p:cNvPr id="4" name="Text 2"/>
          <p:cNvSpPr/>
          <p:nvPr/>
        </p:nvSpPr>
        <p:spPr>
          <a:xfrm>
            <a:off x="2148840" y="1298448"/>
            <a:ext cx="3291840" cy="320040"/>
          </a:xfrm>
          <a:prstGeom prst="rect">
            <a:avLst/>
          </a:prstGeom>
          <a:noFill/>
          <a:ln/>
        </p:spPr>
        <p:txBody>
          <a:bodyPr wrap="square" lIns="0" tIns="0" rIns="0" bIns="0" rtlCol="0" anchor="ctr"/>
          <a:lstStyle/>
          <a:p>
            <a:pPr algn="ctr" indent="0" marL="0">
              <a:buNone/>
            </a:pPr>
            <a:r>
              <a:rPr lang="en-US" sz="1200" b="1" dirty="0">
                <a:solidFill>
                  <a:srgbClr val="21295C"/>
                </a:solidFill>
                <a:latin typeface="Calibri" pitchFamily="34" charset="0"/>
                <a:ea typeface="Calibri" pitchFamily="34" charset="-122"/>
                <a:cs typeface="Calibri" pitchFamily="34" charset="-120"/>
              </a:rPr>
              <a:t>ReLU / piecewise-linéaire</a:t>
            </a:r>
            <a:endParaRPr lang="en-US" sz="1200" dirty="0"/>
          </a:p>
        </p:txBody>
      </p:sp>
      <p:sp>
        <p:nvSpPr>
          <p:cNvPr id="5" name="Text 3"/>
          <p:cNvSpPr/>
          <p:nvPr/>
        </p:nvSpPr>
        <p:spPr>
          <a:xfrm>
            <a:off x="5669280" y="1298448"/>
            <a:ext cx="3291840" cy="320040"/>
          </a:xfrm>
          <a:prstGeom prst="rect">
            <a:avLst/>
          </a:prstGeom>
          <a:noFill/>
          <a:ln/>
        </p:spPr>
        <p:txBody>
          <a:bodyPr wrap="square" lIns="0" tIns="0" rIns="0" bIns="0" rtlCol="0" anchor="ctr"/>
          <a:lstStyle/>
          <a:p>
            <a:pPr algn="ctr" indent="0" marL="0">
              <a:buNone/>
            </a:pPr>
            <a:r>
              <a:rPr lang="en-US" sz="1200" b="1" dirty="0">
                <a:solidFill>
                  <a:srgbClr val="21295C"/>
                </a:solidFill>
                <a:latin typeface="Calibri" pitchFamily="34" charset="0"/>
                <a:ea typeface="Calibri" pitchFamily="34" charset="-122"/>
                <a:cs typeface="Calibri" pitchFamily="34" charset="-120"/>
              </a:rPr>
              <a:t>Activations lisses</a:t>
            </a:r>
            <a:endParaRPr lang="en-US" sz="1200" dirty="0"/>
          </a:p>
        </p:txBody>
      </p:sp>
      <p:sp>
        <p:nvSpPr>
          <p:cNvPr id="6" name="Text 4"/>
          <p:cNvSpPr/>
          <p:nvPr/>
        </p:nvSpPr>
        <p:spPr>
          <a:xfrm>
            <a:off x="502920" y="2103120"/>
            <a:ext cx="1554480" cy="365760"/>
          </a:xfrm>
          <a:prstGeom prst="rect">
            <a:avLst/>
          </a:prstGeom>
          <a:noFill/>
          <a:ln/>
        </p:spPr>
        <p:txBody>
          <a:bodyPr wrap="square" lIns="0" tIns="0" rIns="0" bIns="0" rtlCol="0" anchor="ctr"/>
          <a:lstStyle/>
          <a:p>
            <a:pPr algn="r" indent="0" marL="0">
              <a:buNone/>
            </a:pPr>
            <a:r>
              <a:rPr lang="en-US" sz="1200" b="1" dirty="0">
                <a:solidFill>
                  <a:srgbClr val="21295C"/>
                </a:solidFill>
                <a:latin typeface="Calibri" pitchFamily="34" charset="0"/>
                <a:ea typeface="Calibri" pitchFamily="34" charset="-122"/>
                <a:cs typeface="Calibri" pitchFamily="34" charset="-120"/>
              </a:rPr>
              <a:t>Raw-output</a:t>
            </a:r>
            <a:endParaRPr lang="en-US" sz="1200" dirty="0"/>
          </a:p>
        </p:txBody>
      </p:sp>
      <p:sp>
        <p:nvSpPr>
          <p:cNvPr id="7" name="Text 5"/>
          <p:cNvSpPr/>
          <p:nvPr/>
        </p:nvSpPr>
        <p:spPr>
          <a:xfrm>
            <a:off x="502920" y="3538728"/>
            <a:ext cx="1554480" cy="365760"/>
          </a:xfrm>
          <a:prstGeom prst="rect">
            <a:avLst/>
          </a:prstGeom>
          <a:noFill/>
          <a:ln/>
        </p:spPr>
        <p:txBody>
          <a:bodyPr wrap="square" lIns="0" tIns="0" rIns="0" bIns="0" rtlCol="0" anchor="ctr"/>
          <a:lstStyle/>
          <a:p>
            <a:pPr algn="r" indent="0" marL="0">
              <a:buNone/>
            </a:pPr>
            <a:r>
              <a:rPr lang="en-US" sz="1200" b="1" dirty="0">
                <a:solidFill>
                  <a:srgbClr val="21295C"/>
                </a:solidFill>
                <a:latin typeface="Calibri" pitchFamily="34" charset="0"/>
                <a:ea typeface="Calibri" pitchFamily="34" charset="-122"/>
                <a:cs typeface="Calibri" pitchFamily="34" charset="-120"/>
              </a:rPr>
              <a:t>Hard-label</a:t>
            </a:r>
            <a:endParaRPr lang="en-US" sz="1200" dirty="0"/>
          </a:p>
        </p:txBody>
      </p:sp>
      <p:sp>
        <p:nvSpPr>
          <p:cNvPr id="8" name="Shape 6"/>
          <p:cNvSpPr/>
          <p:nvPr/>
        </p:nvSpPr>
        <p:spPr>
          <a:xfrm>
            <a:off x="2148840" y="1691640"/>
            <a:ext cx="3291840" cy="1207008"/>
          </a:xfrm>
          <a:prstGeom prst="roundRect">
            <a:avLst>
              <a:gd name="adj" fmla="val 4545"/>
            </a:avLst>
          </a:prstGeom>
          <a:solidFill>
            <a:srgbClr val="DDE4EA"/>
          </a:solidFill>
          <a:ln w="12700">
            <a:solidFill>
              <a:srgbClr val="DDE4EA"/>
            </a:solidFill>
            <a:prstDash val="solid"/>
          </a:ln>
        </p:spPr>
      </p:sp>
      <p:sp>
        <p:nvSpPr>
          <p:cNvPr id="9" name="Text 7"/>
          <p:cNvSpPr/>
          <p:nvPr/>
        </p:nvSpPr>
        <p:spPr>
          <a:xfrm>
            <a:off x="2148840" y="1874520"/>
            <a:ext cx="3291840" cy="365760"/>
          </a:xfrm>
          <a:prstGeom prst="rect">
            <a:avLst/>
          </a:prstGeom>
          <a:noFill/>
          <a:ln/>
        </p:spPr>
        <p:txBody>
          <a:bodyPr wrap="square" lIns="0" tIns="0" rIns="0" bIns="0" rtlCol="0" anchor="ctr"/>
          <a:lstStyle/>
          <a:p>
            <a:pPr algn="ctr" indent="0" marL="0">
              <a:buNone/>
            </a:pPr>
            <a:r>
              <a:rPr lang="en-US" sz="1600" b="1" dirty="0">
                <a:solidFill>
                  <a:srgbClr val="21295C"/>
                </a:solidFill>
                <a:latin typeface="Cambria" pitchFamily="34" charset="0"/>
                <a:ea typeface="Cambria" pitchFamily="34" charset="-122"/>
                <a:cs typeface="Cambria" pitchFamily="34" charset="-120"/>
              </a:rPr>
              <a:t>Résolu</a:t>
            </a:r>
            <a:endParaRPr lang="en-US" sz="1600" dirty="0"/>
          </a:p>
        </p:txBody>
      </p:sp>
      <p:sp>
        <p:nvSpPr>
          <p:cNvPr id="10" name="Text 8"/>
          <p:cNvSpPr/>
          <p:nvPr/>
        </p:nvSpPr>
        <p:spPr>
          <a:xfrm>
            <a:off x="2148840" y="2313432"/>
            <a:ext cx="3291840" cy="502920"/>
          </a:xfrm>
          <a:prstGeom prst="rect">
            <a:avLst/>
          </a:prstGeom>
          <a:noFill/>
          <a:ln/>
        </p:spPr>
        <p:txBody>
          <a:bodyPr wrap="square" lIns="0" tIns="0" rIns="0" bIns="0" rtlCol="0" anchor="ctr"/>
          <a:lstStyle/>
          <a:p>
            <a:pPr algn="ctr" indent="0" marL="0">
              <a:lnSpc>
                <a:spcPts val="1400"/>
              </a:lnSpc>
              <a:buNone/>
            </a:pPr>
            <a:r>
              <a:rPr lang="en-US" sz="1100" dirty="0">
                <a:solidFill>
                  <a:srgbClr val="5A6478"/>
                </a:solidFill>
                <a:latin typeface="Calibri" pitchFamily="34" charset="0"/>
                <a:ea typeface="Calibri" pitchFamily="34" charset="-122"/>
                <a:cs typeface="Calibri" pitchFamily="34" charset="-120"/>
              </a:rPr>
              <a:t>CRYPTO 2020</a:t>
            </a:r>
            <a:endParaRPr lang="en-US" sz="1100" dirty="0"/>
          </a:p>
          <a:p>
            <a:pPr algn="ctr" indent="0" marL="0">
              <a:lnSpc>
                <a:spcPts val="1400"/>
              </a:lnSpc>
              <a:buNone/>
            </a:pPr>
            <a:r>
              <a:rPr lang="en-US" sz="1100" dirty="0">
                <a:solidFill>
                  <a:srgbClr val="5A6478"/>
                </a:solidFill>
                <a:latin typeface="Calibri" pitchFamily="34" charset="0"/>
                <a:ea typeface="Calibri" pitchFamily="34" charset="-122"/>
                <a:cs typeface="Calibri" pitchFamily="34" charset="-120"/>
              </a:rPr>
              <a:t>EUROCRYPT 2024</a:t>
            </a:r>
            <a:endParaRPr lang="en-US" sz="1100" dirty="0"/>
          </a:p>
        </p:txBody>
      </p:sp>
      <p:sp>
        <p:nvSpPr>
          <p:cNvPr id="11" name="Shape 9"/>
          <p:cNvSpPr/>
          <p:nvPr/>
        </p:nvSpPr>
        <p:spPr>
          <a:xfrm>
            <a:off x="5669280" y="1691640"/>
            <a:ext cx="3291840" cy="1207008"/>
          </a:xfrm>
          <a:prstGeom prst="roundRect">
            <a:avLst>
              <a:gd name="adj" fmla="val 4545"/>
            </a:avLst>
          </a:prstGeom>
          <a:solidFill>
            <a:srgbClr val="DDE4EA"/>
          </a:solidFill>
          <a:ln w="12700">
            <a:solidFill>
              <a:srgbClr val="DDE4EA"/>
            </a:solidFill>
            <a:prstDash val="solid"/>
          </a:ln>
        </p:spPr>
      </p:sp>
      <p:sp>
        <p:nvSpPr>
          <p:cNvPr id="12" name="Text 10"/>
          <p:cNvSpPr/>
          <p:nvPr/>
        </p:nvSpPr>
        <p:spPr>
          <a:xfrm>
            <a:off x="5669280" y="1874520"/>
            <a:ext cx="3291840" cy="365760"/>
          </a:xfrm>
          <a:prstGeom prst="rect">
            <a:avLst/>
          </a:prstGeom>
          <a:noFill/>
          <a:ln/>
        </p:spPr>
        <p:txBody>
          <a:bodyPr wrap="square" lIns="0" tIns="0" rIns="0" bIns="0" rtlCol="0" anchor="ctr"/>
          <a:lstStyle/>
          <a:p>
            <a:pPr algn="ctr" indent="0" marL="0">
              <a:buNone/>
            </a:pPr>
            <a:r>
              <a:rPr lang="en-US" sz="1600" b="1" dirty="0">
                <a:solidFill>
                  <a:srgbClr val="21295C"/>
                </a:solidFill>
                <a:latin typeface="Cambria" pitchFamily="34" charset="0"/>
                <a:ea typeface="Cambria" pitchFamily="34" charset="-122"/>
                <a:cs typeface="Cambria" pitchFamily="34" charset="-120"/>
              </a:rPr>
              <a:t>Résolu en 2026</a:t>
            </a:r>
            <a:endParaRPr lang="en-US" sz="1600" dirty="0"/>
          </a:p>
        </p:txBody>
      </p:sp>
      <p:sp>
        <p:nvSpPr>
          <p:cNvPr id="13" name="Text 11"/>
          <p:cNvSpPr/>
          <p:nvPr/>
        </p:nvSpPr>
        <p:spPr>
          <a:xfrm>
            <a:off x="5669280" y="2313432"/>
            <a:ext cx="3291840" cy="502920"/>
          </a:xfrm>
          <a:prstGeom prst="rect">
            <a:avLst/>
          </a:prstGeom>
          <a:noFill/>
          <a:ln/>
        </p:spPr>
        <p:txBody>
          <a:bodyPr wrap="square" lIns="0" tIns="0" rIns="0" bIns="0" rtlCol="0" anchor="ctr"/>
          <a:lstStyle/>
          <a:p>
            <a:pPr algn="ctr" indent="0" marL="0">
              <a:lnSpc>
                <a:spcPts val="1400"/>
              </a:lnSpc>
              <a:buNone/>
            </a:pPr>
            <a:r>
              <a:rPr lang="en-US" sz="1100" dirty="0">
                <a:solidFill>
                  <a:srgbClr val="5A6478"/>
                </a:solidFill>
                <a:latin typeface="Calibri" pitchFamily="34" charset="0"/>
                <a:ea typeface="Calibri" pitchFamily="34" charset="-122"/>
                <a:cs typeface="Calibri" pitchFamily="34" charset="-120"/>
              </a:rPr>
              <a:t>ePrint 2026/253</a:t>
            </a:r>
            <a:endParaRPr lang="en-US" sz="1100" dirty="0"/>
          </a:p>
          <a:p>
            <a:pPr algn="ctr" indent="0" marL="0">
              <a:lnSpc>
                <a:spcPts val="1400"/>
              </a:lnSpc>
              <a:buNone/>
            </a:pPr>
            <a:r>
              <a:rPr lang="en-US" sz="1100" dirty="0">
                <a:solidFill>
                  <a:srgbClr val="5A6478"/>
                </a:solidFill>
                <a:latin typeface="Calibri" pitchFamily="34" charset="0"/>
                <a:ea typeface="Calibri" pitchFamily="34" charset="-122"/>
                <a:cs typeface="Calibri" pitchFamily="34" charset="-120"/>
              </a:rPr>
              <a:t>ToSC 2026(1)</a:t>
            </a:r>
            <a:endParaRPr lang="en-US" sz="1100" dirty="0"/>
          </a:p>
        </p:txBody>
      </p:sp>
      <p:sp>
        <p:nvSpPr>
          <p:cNvPr id="14" name="Shape 12"/>
          <p:cNvSpPr/>
          <p:nvPr/>
        </p:nvSpPr>
        <p:spPr>
          <a:xfrm>
            <a:off x="2148840" y="3127248"/>
            <a:ext cx="3291840" cy="1207008"/>
          </a:xfrm>
          <a:prstGeom prst="roundRect">
            <a:avLst>
              <a:gd name="adj" fmla="val 4545"/>
            </a:avLst>
          </a:prstGeom>
          <a:solidFill>
            <a:srgbClr val="DDE4EA"/>
          </a:solidFill>
          <a:ln w="12700">
            <a:solidFill>
              <a:srgbClr val="DDE4EA"/>
            </a:solidFill>
            <a:prstDash val="solid"/>
          </a:ln>
        </p:spPr>
      </p:sp>
      <p:sp>
        <p:nvSpPr>
          <p:cNvPr id="15" name="Text 13"/>
          <p:cNvSpPr/>
          <p:nvPr/>
        </p:nvSpPr>
        <p:spPr>
          <a:xfrm>
            <a:off x="2148840" y="3310128"/>
            <a:ext cx="3291840" cy="365760"/>
          </a:xfrm>
          <a:prstGeom prst="rect">
            <a:avLst/>
          </a:prstGeom>
          <a:noFill/>
          <a:ln/>
        </p:spPr>
        <p:txBody>
          <a:bodyPr wrap="square" lIns="0" tIns="0" rIns="0" bIns="0" rtlCol="0" anchor="ctr"/>
          <a:lstStyle/>
          <a:p>
            <a:pPr algn="ctr" indent="0" marL="0">
              <a:buNone/>
            </a:pPr>
            <a:r>
              <a:rPr lang="en-US" sz="1600" b="1" dirty="0">
                <a:solidFill>
                  <a:srgbClr val="21295C"/>
                </a:solidFill>
                <a:latin typeface="Cambria" pitchFamily="34" charset="0"/>
                <a:ea typeface="Cambria" pitchFamily="34" charset="-122"/>
                <a:cs typeface="Cambria" pitchFamily="34" charset="-120"/>
              </a:rPr>
              <a:t>Résolu</a:t>
            </a:r>
            <a:endParaRPr lang="en-US" sz="1600" dirty="0"/>
          </a:p>
        </p:txBody>
      </p:sp>
      <p:sp>
        <p:nvSpPr>
          <p:cNvPr id="16" name="Text 14"/>
          <p:cNvSpPr/>
          <p:nvPr/>
        </p:nvSpPr>
        <p:spPr>
          <a:xfrm>
            <a:off x="2148840" y="3749040"/>
            <a:ext cx="3291840" cy="502920"/>
          </a:xfrm>
          <a:prstGeom prst="rect">
            <a:avLst/>
          </a:prstGeom>
          <a:noFill/>
          <a:ln/>
        </p:spPr>
        <p:txBody>
          <a:bodyPr wrap="square" lIns="0" tIns="0" rIns="0" bIns="0" rtlCol="0" anchor="ctr"/>
          <a:lstStyle/>
          <a:p>
            <a:pPr algn="ctr" indent="0" marL="0">
              <a:lnSpc>
                <a:spcPts val="1400"/>
              </a:lnSpc>
              <a:buNone/>
            </a:pPr>
            <a:r>
              <a:rPr lang="en-US" sz="1100" dirty="0">
                <a:solidFill>
                  <a:srgbClr val="5A6478"/>
                </a:solidFill>
                <a:latin typeface="Calibri" pitchFamily="34" charset="0"/>
                <a:ea typeface="Calibri" pitchFamily="34" charset="-122"/>
                <a:cs typeface="Calibri" pitchFamily="34" charset="-120"/>
              </a:rPr>
              <a:t>EUROCRYPT 2025</a:t>
            </a:r>
            <a:endParaRPr lang="en-US" sz="1100" dirty="0"/>
          </a:p>
          <a:p>
            <a:pPr algn="ctr" indent="0" marL="0">
              <a:lnSpc>
                <a:spcPts val="1400"/>
              </a:lnSpc>
              <a:buNone/>
            </a:pPr>
            <a:r>
              <a:rPr lang="en-US" sz="1100" dirty="0">
                <a:solidFill>
                  <a:srgbClr val="5A6478"/>
                </a:solidFill>
                <a:latin typeface="Calibri" pitchFamily="34" charset="0"/>
                <a:ea typeface="Calibri" pitchFamily="34" charset="-122"/>
                <a:cs typeface="Calibri" pitchFamily="34" charset="-120"/>
              </a:rPr>
              <a:t>LATINCRYPT 2025</a:t>
            </a:r>
            <a:endParaRPr lang="en-US" sz="1100" dirty="0"/>
          </a:p>
        </p:txBody>
      </p:sp>
      <p:sp>
        <p:nvSpPr>
          <p:cNvPr id="17" name="Shape 15"/>
          <p:cNvSpPr/>
          <p:nvPr/>
        </p:nvSpPr>
        <p:spPr>
          <a:xfrm>
            <a:off x="5669280" y="3127248"/>
            <a:ext cx="3291840" cy="1207008"/>
          </a:xfrm>
          <a:prstGeom prst="roundRect">
            <a:avLst>
              <a:gd name="adj" fmla="val 4545"/>
            </a:avLst>
          </a:prstGeom>
          <a:solidFill>
            <a:srgbClr val="FDF2E0"/>
          </a:solidFill>
          <a:ln w="31750">
            <a:solidFill>
              <a:srgbClr val="E8A33D"/>
            </a:solidFill>
            <a:prstDash val="solid"/>
          </a:ln>
        </p:spPr>
      </p:sp>
      <p:sp>
        <p:nvSpPr>
          <p:cNvPr id="18" name="Text 16"/>
          <p:cNvSpPr/>
          <p:nvPr/>
        </p:nvSpPr>
        <p:spPr>
          <a:xfrm>
            <a:off x="5669280" y="3310128"/>
            <a:ext cx="3291840" cy="365760"/>
          </a:xfrm>
          <a:prstGeom prst="rect">
            <a:avLst/>
          </a:prstGeom>
          <a:noFill/>
          <a:ln/>
        </p:spPr>
        <p:txBody>
          <a:bodyPr wrap="square" lIns="0" tIns="0" rIns="0" bIns="0" rtlCol="0" anchor="ctr"/>
          <a:lstStyle/>
          <a:p>
            <a:pPr algn="ctr" indent="0" marL="0">
              <a:buNone/>
            </a:pPr>
            <a:r>
              <a:rPr lang="en-US" sz="2000" b="1" dirty="0">
                <a:solidFill>
                  <a:srgbClr val="8A5A10"/>
                </a:solidFill>
                <a:latin typeface="Cambria" pitchFamily="34" charset="0"/>
                <a:ea typeface="Cambria" pitchFamily="34" charset="-122"/>
                <a:cs typeface="Cambria" pitchFamily="34" charset="-120"/>
              </a:rPr>
              <a:t>OUVERT</a:t>
            </a:r>
            <a:endParaRPr lang="en-US" sz="2000" dirty="0"/>
          </a:p>
        </p:txBody>
      </p:sp>
      <p:sp>
        <p:nvSpPr>
          <p:cNvPr id="19" name="Text 17"/>
          <p:cNvSpPr/>
          <p:nvPr/>
        </p:nvSpPr>
        <p:spPr>
          <a:xfrm>
            <a:off x="5669280" y="3749040"/>
            <a:ext cx="3291840" cy="502920"/>
          </a:xfrm>
          <a:prstGeom prst="rect">
            <a:avLst/>
          </a:prstGeom>
          <a:noFill/>
          <a:ln/>
        </p:spPr>
        <p:txBody>
          <a:bodyPr wrap="square" lIns="0" tIns="0" rIns="0" bIns="0" rtlCol="0" anchor="ctr"/>
          <a:lstStyle/>
          <a:p>
            <a:pPr algn="ctr" indent="0" marL="0">
              <a:lnSpc>
                <a:spcPts val="1400"/>
              </a:lnSpc>
              <a:buNone/>
            </a:pPr>
            <a:r>
              <a:rPr lang="en-US" sz="1100" dirty="0">
                <a:solidFill>
                  <a:srgbClr val="8A5A10"/>
                </a:solidFill>
                <a:latin typeface="Calibri" pitchFamily="34" charset="0"/>
                <a:ea typeface="Calibri" pitchFamily="34" charset="-122"/>
                <a:cs typeface="Calibri" pitchFamily="34" charset="-120"/>
              </a:rPr>
              <a:t>aucune publication</a:t>
            </a:r>
            <a:endParaRPr lang="en-US" sz="1100" dirty="0"/>
          </a:p>
          <a:p>
            <a:pPr algn="ctr" indent="0" marL="0">
              <a:lnSpc>
                <a:spcPts val="1400"/>
              </a:lnSpc>
              <a:buNone/>
            </a:pPr>
            <a:r>
              <a:rPr lang="en-US" sz="1100" dirty="0">
                <a:solidFill>
                  <a:srgbClr val="8A5A10"/>
                </a:solidFill>
                <a:latin typeface="Calibri" pitchFamily="34" charset="0"/>
                <a:ea typeface="Calibri" pitchFamily="34" charset="-122"/>
                <a:cs typeface="Calibri" pitchFamily="34" charset="-120"/>
              </a:rPr>
              <a:t>à ce jour</a:t>
            </a:r>
            <a:endParaRPr lang="en-US" sz="1100" dirty="0"/>
          </a:p>
        </p:txBody>
      </p:sp>
      <p:sp>
        <p:nvSpPr>
          <p:cNvPr id="20" name="Text 18"/>
          <p:cNvSpPr/>
          <p:nvPr/>
        </p:nvSpPr>
        <p:spPr>
          <a:xfrm>
            <a:off x="502920" y="4315968"/>
            <a:ext cx="8138160" cy="502920"/>
          </a:xfrm>
          <a:prstGeom prst="rect">
            <a:avLst/>
          </a:prstGeom>
          <a:noFill/>
          <a:ln/>
        </p:spPr>
        <p:txBody>
          <a:bodyPr wrap="square" lIns="0" tIns="0" rIns="0" bIns="0" rtlCol="0" anchor="ctr"/>
          <a:lstStyle/>
          <a:p>
            <a:pPr indent="0" marL="0">
              <a:lnSpc>
                <a:spcPts val="1700"/>
              </a:lnSpc>
              <a:buNone/>
            </a:pPr>
            <a:r>
              <a:rPr lang="en-US" sz="1200" dirty="0">
                <a:solidFill>
                  <a:srgbClr val="1B2233"/>
                </a:solidFill>
                <a:latin typeface="Calibri" pitchFamily="34" charset="0"/>
                <a:ea typeface="Calibri" pitchFamily="34" charset="-122"/>
                <a:cs typeface="Calibri" pitchFamily="34" charset="-120"/>
              </a:rPr>
              <a:t>La difficulté est réelle, pas accidentelle : chez ReLU, la frontière de décision se plie nettement en traversant un hyperplan critique. Chez GELU ou tanh, elle ne se plie plus — elle s'incurve.</a:t>
            </a:r>
            <a:endParaRPr lang="en-US" sz="1200" dirty="0"/>
          </a:p>
        </p:txBody>
      </p:sp>
      <p:sp>
        <p:nvSpPr>
          <p:cNvPr id="21" name="Text 19"/>
          <p:cNvSpPr/>
          <p:nvPr/>
        </p:nvSpPr>
        <p:spPr>
          <a:xfrm>
            <a:off x="502920" y="4759452"/>
            <a:ext cx="4572000" cy="228600"/>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T. Diallo — Bilan S1 — EPT / EDPT</a:t>
            </a:r>
            <a:endParaRPr lang="en-US" sz="900" dirty="0"/>
          </a:p>
        </p:txBody>
      </p:sp>
      <p:sp>
        <p:nvSpPr>
          <p:cNvPr id="22" name="Text 20"/>
          <p:cNvSpPr/>
          <p:nvPr/>
        </p:nvSpPr>
        <p:spPr>
          <a:xfrm>
            <a:off x="8183880" y="4759452"/>
            <a:ext cx="457200" cy="228600"/>
          </a:xfrm>
          <a:prstGeom prst="rect">
            <a:avLst/>
          </a:prstGeom>
          <a:noFill/>
          <a:ln/>
        </p:spPr>
        <p:txBody>
          <a:bodyPr wrap="square" lIns="0" tIns="0" rIns="0" bIns="0" rtlCol="0" anchor="ctr"/>
          <a:lstStyle/>
          <a:p>
            <a:pPr algn="r" indent="0" marL="0">
              <a:buNone/>
            </a:pPr>
            <a:r>
              <a:rPr lang="en-US" sz="900" dirty="0">
                <a:solidFill>
                  <a:srgbClr val="5A647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138160" cy="219456"/>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REPOSITIONNEMENT PROPOSÉ</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Trois créneaux non occupés</a:t>
            </a:r>
            <a:endParaRPr lang="en-US" sz="3000" dirty="0"/>
          </a:p>
        </p:txBody>
      </p:sp>
      <p:sp>
        <p:nvSpPr>
          <p:cNvPr id="4" name="Shape 2"/>
          <p:cNvSpPr/>
          <p:nvPr/>
        </p:nvSpPr>
        <p:spPr>
          <a:xfrm>
            <a:off x="502920" y="1207008"/>
            <a:ext cx="8138160" cy="969264"/>
          </a:xfrm>
          <a:prstGeom prst="roundRect">
            <a:avLst>
              <a:gd name="adj" fmla="val 5660"/>
            </a:avLst>
          </a:prstGeom>
          <a:solidFill>
            <a:srgbClr val="F4F6F9"/>
          </a:solidFill>
          <a:ln w="12700">
            <a:solidFill>
              <a:srgbClr val="F4F6F9"/>
            </a:solidFill>
            <a:prstDash val="solid"/>
          </a:ln>
        </p:spPr>
      </p:sp>
      <p:sp>
        <p:nvSpPr>
          <p:cNvPr id="5" name="Shape 3"/>
          <p:cNvSpPr/>
          <p:nvPr/>
        </p:nvSpPr>
        <p:spPr>
          <a:xfrm>
            <a:off x="722376" y="1481328"/>
            <a:ext cx="420624" cy="420624"/>
          </a:xfrm>
          <a:prstGeom prst="ellipse">
            <a:avLst/>
          </a:prstGeom>
          <a:solidFill>
            <a:srgbClr val="1C7293"/>
          </a:solidFill>
          <a:ln w="12700">
            <a:solidFill>
              <a:srgbClr val="333333"/>
            </a:solidFill>
            <a:prstDash val="solid"/>
          </a:ln>
        </p:spPr>
      </p:sp>
      <p:sp>
        <p:nvSpPr>
          <p:cNvPr id="6" name="Text 4"/>
          <p:cNvSpPr/>
          <p:nvPr/>
        </p:nvSpPr>
        <p:spPr>
          <a:xfrm>
            <a:off x="722376" y="1481328"/>
            <a:ext cx="420624" cy="420624"/>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A</a:t>
            </a:r>
            <a:endParaRPr lang="en-US" sz="1700" dirty="0"/>
          </a:p>
        </p:txBody>
      </p:sp>
      <p:sp>
        <p:nvSpPr>
          <p:cNvPr id="7" name="Text 5"/>
          <p:cNvSpPr/>
          <p:nvPr/>
        </p:nvSpPr>
        <p:spPr>
          <a:xfrm>
            <a:off x="1307592" y="1353312"/>
            <a:ext cx="4937760" cy="292608"/>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Hard-label × activations lisses</a:t>
            </a:r>
            <a:endParaRPr lang="en-US" sz="1400" dirty="0"/>
          </a:p>
        </p:txBody>
      </p:sp>
      <p:sp>
        <p:nvSpPr>
          <p:cNvPr id="8" name="Text 6"/>
          <p:cNvSpPr/>
          <p:nvPr/>
        </p:nvSpPr>
        <p:spPr>
          <a:xfrm>
            <a:off x="1307592" y="1664208"/>
            <a:ext cx="5120640" cy="457200"/>
          </a:xfrm>
          <a:prstGeom prst="rect">
            <a:avLst/>
          </a:prstGeom>
          <a:noFill/>
          <a:ln/>
        </p:spPr>
        <p:txBody>
          <a:bodyPr wrap="square" lIns="0" tIns="0" rIns="0" bIns="0" rtlCol="0" anchor="ctr"/>
          <a:lstStyle/>
          <a:p>
            <a:pPr indent="0" marL="0">
              <a:lnSpc>
                <a:spcPts val="1500"/>
              </a:lnSpc>
              <a:buNone/>
            </a:pPr>
            <a:r>
              <a:rPr lang="en-US" sz="1100" dirty="0">
                <a:solidFill>
                  <a:srgbClr val="1B2233"/>
                </a:solidFill>
                <a:latin typeface="Calibri" pitchFamily="34" charset="0"/>
                <a:ea typeface="Calibri" pitchFamily="34" charset="-122"/>
                <a:cs typeface="Calibri" pitchFamily="34" charset="-120"/>
              </a:rPr>
              <a:t>Le signal géométrique ne disparaît pas : il passe de la discontinuité de la normale à une concentration de courbure.</a:t>
            </a:r>
            <a:endParaRPr lang="en-US" sz="1100" dirty="0"/>
          </a:p>
        </p:txBody>
      </p:sp>
      <p:sp>
        <p:nvSpPr>
          <p:cNvPr id="9" name="Text 7"/>
          <p:cNvSpPr/>
          <p:nvPr/>
        </p:nvSpPr>
        <p:spPr>
          <a:xfrm>
            <a:off x="6583680" y="1527048"/>
            <a:ext cx="1828800" cy="329184"/>
          </a:xfrm>
          <a:prstGeom prst="rect">
            <a:avLst/>
          </a:prstGeom>
          <a:noFill/>
          <a:ln/>
        </p:spPr>
        <p:txBody>
          <a:bodyPr wrap="square" lIns="0" tIns="0" rIns="0" bIns="0" rtlCol="0" anchor="ctr"/>
          <a:lstStyle/>
          <a:p>
            <a:pPr algn="r" indent="0" marL="0">
              <a:buNone/>
            </a:pPr>
            <a:r>
              <a:rPr lang="en-US" sz="1150" b="1" i="1" dirty="0">
                <a:solidFill>
                  <a:srgbClr val="1C7293"/>
                </a:solidFill>
                <a:latin typeface="Calibri" pitchFamily="34" charset="0"/>
                <a:ea typeface="Calibri" pitchFamily="34" charset="-122"/>
                <a:cs typeface="Calibri" pitchFamily="34" charset="-120"/>
              </a:rPr>
              <a:t>Contribution principale</a:t>
            </a:r>
            <a:endParaRPr lang="en-US" sz="1150" dirty="0"/>
          </a:p>
        </p:txBody>
      </p:sp>
      <p:sp>
        <p:nvSpPr>
          <p:cNvPr id="10" name="Shape 8"/>
          <p:cNvSpPr/>
          <p:nvPr/>
        </p:nvSpPr>
        <p:spPr>
          <a:xfrm>
            <a:off x="502920" y="2286000"/>
            <a:ext cx="8138160" cy="969264"/>
          </a:xfrm>
          <a:prstGeom prst="roundRect">
            <a:avLst>
              <a:gd name="adj" fmla="val 5660"/>
            </a:avLst>
          </a:prstGeom>
          <a:solidFill>
            <a:srgbClr val="F4F6F9"/>
          </a:solidFill>
          <a:ln w="12700">
            <a:solidFill>
              <a:srgbClr val="F4F6F9"/>
            </a:solidFill>
            <a:prstDash val="solid"/>
          </a:ln>
        </p:spPr>
      </p:sp>
      <p:sp>
        <p:nvSpPr>
          <p:cNvPr id="11" name="Shape 9"/>
          <p:cNvSpPr/>
          <p:nvPr/>
        </p:nvSpPr>
        <p:spPr>
          <a:xfrm>
            <a:off x="722376" y="2560320"/>
            <a:ext cx="420624" cy="420624"/>
          </a:xfrm>
          <a:prstGeom prst="ellipse">
            <a:avLst/>
          </a:prstGeom>
          <a:solidFill>
            <a:srgbClr val="E8A33D"/>
          </a:solidFill>
          <a:ln w="12700">
            <a:solidFill>
              <a:srgbClr val="333333"/>
            </a:solidFill>
            <a:prstDash val="solid"/>
          </a:ln>
        </p:spPr>
      </p:sp>
      <p:sp>
        <p:nvSpPr>
          <p:cNvPr id="12" name="Text 10"/>
          <p:cNvSpPr/>
          <p:nvPr/>
        </p:nvSpPr>
        <p:spPr>
          <a:xfrm>
            <a:off x="722376" y="2560320"/>
            <a:ext cx="420624" cy="420624"/>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B</a:t>
            </a:r>
            <a:endParaRPr lang="en-US" sz="1700" dirty="0"/>
          </a:p>
        </p:txBody>
      </p:sp>
      <p:sp>
        <p:nvSpPr>
          <p:cNvPr id="13" name="Text 11"/>
          <p:cNvSpPr/>
          <p:nvPr/>
        </p:nvSpPr>
        <p:spPr>
          <a:xfrm>
            <a:off x="1307592" y="2432304"/>
            <a:ext cx="4937760" cy="292608"/>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Défenses au déploiement</a:t>
            </a:r>
            <a:endParaRPr lang="en-US" sz="1400" dirty="0"/>
          </a:p>
        </p:txBody>
      </p:sp>
      <p:sp>
        <p:nvSpPr>
          <p:cNvPr id="14" name="Text 12"/>
          <p:cNvSpPr/>
          <p:nvPr/>
        </p:nvSpPr>
        <p:spPr>
          <a:xfrm>
            <a:off x="1307592" y="2743200"/>
            <a:ext cx="5120640" cy="457200"/>
          </a:xfrm>
          <a:prstGeom prst="rect">
            <a:avLst/>
          </a:prstGeom>
          <a:noFill/>
          <a:ln/>
        </p:spPr>
        <p:txBody>
          <a:bodyPr wrap="square" lIns="0" tIns="0" rIns="0" bIns="0" rtlCol="0" anchor="ctr"/>
          <a:lstStyle/>
          <a:p>
            <a:pPr indent="0" marL="0">
              <a:lnSpc>
                <a:spcPts val="1500"/>
              </a:lnSpc>
              <a:buNone/>
            </a:pPr>
            <a:r>
              <a:rPr lang="en-US" sz="1100" dirty="0">
                <a:solidFill>
                  <a:srgbClr val="1B2233"/>
                </a:solidFill>
                <a:latin typeface="Calibri" pitchFamily="34" charset="0"/>
                <a:ea typeface="Calibri" pitchFamily="34" charset="-122"/>
                <a:cs typeface="Calibri" pitchFamily="34" charset="-120"/>
              </a:rPr>
              <a:t>L'attaque exige une précision de 10⁻¹³ sur la localisation des points de transition. C'est une hypothèse extrêmement fragile.</a:t>
            </a:r>
            <a:endParaRPr lang="en-US" sz="1100" dirty="0"/>
          </a:p>
        </p:txBody>
      </p:sp>
      <p:sp>
        <p:nvSpPr>
          <p:cNvPr id="15" name="Text 13"/>
          <p:cNvSpPr/>
          <p:nvPr/>
        </p:nvSpPr>
        <p:spPr>
          <a:xfrm>
            <a:off x="6583680" y="2606040"/>
            <a:ext cx="1828800" cy="329184"/>
          </a:xfrm>
          <a:prstGeom prst="rect">
            <a:avLst/>
          </a:prstGeom>
          <a:noFill/>
          <a:ln/>
        </p:spPr>
        <p:txBody>
          <a:bodyPr wrap="square" lIns="0" tIns="0" rIns="0" bIns="0" rtlCol="0" anchor="ctr"/>
          <a:lstStyle/>
          <a:p>
            <a:pPr algn="r" indent="0" marL="0">
              <a:buNone/>
            </a:pPr>
            <a:r>
              <a:rPr lang="en-US" sz="1150" b="1" i="1" dirty="0">
                <a:solidFill>
                  <a:srgbClr val="E8A33D"/>
                </a:solidFill>
                <a:latin typeface="Calibri" pitchFamily="34" charset="0"/>
                <a:ea typeface="Calibri" pitchFamily="34" charset="-122"/>
                <a:cs typeface="Calibri" pitchFamily="34" charset="-120"/>
              </a:rPr>
              <a:t>Terrain quasi vierge</a:t>
            </a:r>
            <a:endParaRPr lang="en-US" sz="1150" dirty="0"/>
          </a:p>
        </p:txBody>
      </p:sp>
      <p:sp>
        <p:nvSpPr>
          <p:cNvPr id="16" name="Shape 14"/>
          <p:cNvSpPr/>
          <p:nvPr/>
        </p:nvSpPr>
        <p:spPr>
          <a:xfrm>
            <a:off x="502920" y="3364992"/>
            <a:ext cx="8138160" cy="969264"/>
          </a:xfrm>
          <a:prstGeom prst="roundRect">
            <a:avLst>
              <a:gd name="adj" fmla="val 5660"/>
            </a:avLst>
          </a:prstGeom>
          <a:solidFill>
            <a:srgbClr val="F4F6F9"/>
          </a:solidFill>
          <a:ln w="12700">
            <a:solidFill>
              <a:srgbClr val="F4F6F9"/>
            </a:solidFill>
            <a:prstDash val="solid"/>
          </a:ln>
        </p:spPr>
      </p:sp>
      <p:sp>
        <p:nvSpPr>
          <p:cNvPr id="17" name="Shape 15"/>
          <p:cNvSpPr/>
          <p:nvPr/>
        </p:nvSpPr>
        <p:spPr>
          <a:xfrm>
            <a:off x="722376" y="3639312"/>
            <a:ext cx="420624" cy="420624"/>
          </a:xfrm>
          <a:prstGeom prst="ellipse">
            <a:avLst/>
          </a:prstGeom>
          <a:solidFill>
            <a:srgbClr val="065A82"/>
          </a:solidFill>
          <a:ln w="12700">
            <a:solidFill>
              <a:srgbClr val="333333"/>
            </a:solidFill>
            <a:prstDash val="solid"/>
          </a:ln>
        </p:spPr>
      </p:sp>
      <p:sp>
        <p:nvSpPr>
          <p:cNvPr id="18" name="Text 16"/>
          <p:cNvSpPr/>
          <p:nvPr/>
        </p:nvSpPr>
        <p:spPr>
          <a:xfrm>
            <a:off x="722376" y="3639312"/>
            <a:ext cx="420624" cy="420624"/>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C</a:t>
            </a:r>
            <a:endParaRPr lang="en-US" sz="1700" dirty="0"/>
          </a:p>
        </p:txBody>
      </p:sp>
      <p:sp>
        <p:nvSpPr>
          <p:cNvPr id="19" name="Text 17"/>
          <p:cNvSpPr/>
          <p:nvPr/>
        </p:nvSpPr>
        <p:spPr>
          <a:xfrm>
            <a:off x="1307592" y="3511296"/>
            <a:ext cx="4937760" cy="292608"/>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Complexité réelle en profondeur</a:t>
            </a:r>
            <a:endParaRPr lang="en-US" sz="1400" dirty="0"/>
          </a:p>
        </p:txBody>
      </p:sp>
      <p:sp>
        <p:nvSpPr>
          <p:cNvPr id="20" name="Text 18"/>
          <p:cNvSpPr/>
          <p:nvPr/>
        </p:nvSpPr>
        <p:spPr>
          <a:xfrm>
            <a:off x="1307592" y="3822192"/>
            <a:ext cx="5120640" cy="457200"/>
          </a:xfrm>
          <a:prstGeom prst="rect">
            <a:avLst/>
          </a:prstGeom>
          <a:noFill/>
          <a:ln/>
        </p:spPr>
        <p:txBody>
          <a:bodyPr wrap="square" lIns="0" tIns="0" rIns="0" bIns="0" rtlCol="0" anchor="ctr"/>
          <a:lstStyle/>
          <a:p>
            <a:pPr indent="0" marL="0">
              <a:lnSpc>
                <a:spcPts val="1500"/>
              </a:lnSpc>
              <a:buNone/>
            </a:pPr>
            <a:r>
              <a:rPr lang="en-US" sz="1100" dirty="0">
                <a:solidFill>
                  <a:srgbClr val="1B2233"/>
                </a:solidFill>
                <a:latin typeface="Calibri" pitchFamily="34" charset="0"/>
                <a:ea typeface="Calibri" pitchFamily="34" charset="-122"/>
                <a:cs typeface="Calibri" pitchFamily="34" charset="-120"/>
              </a:rPr>
              <a:t>Ito, Miura &amp; Todo (2025) montrent qu'un neurone quasi-toujours actif bloque l'attaque, et devient exponentiellement dur à observer.</a:t>
            </a:r>
            <a:endParaRPr lang="en-US" sz="1100" dirty="0"/>
          </a:p>
        </p:txBody>
      </p:sp>
      <p:sp>
        <p:nvSpPr>
          <p:cNvPr id="21" name="Text 19"/>
          <p:cNvSpPr/>
          <p:nvPr/>
        </p:nvSpPr>
        <p:spPr>
          <a:xfrm>
            <a:off x="6583680" y="3685032"/>
            <a:ext cx="1828800" cy="329184"/>
          </a:xfrm>
          <a:prstGeom prst="rect">
            <a:avLst/>
          </a:prstGeom>
          <a:noFill/>
          <a:ln/>
        </p:spPr>
        <p:txBody>
          <a:bodyPr wrap="square" lIns="0" tIns="0" rIns="0" bIns="0" rtlCol="0" anchor="ctr"/>
          <a:lstStyle/>
          <a:p>
            <a:pPr algn="r" indent="0" marL="0">
              <a:buNone/>
            </a:pPr>
            <a:r>
              <a:rPr lang="en-US" sz="1150" b="1" i="1" dirty="0">
                <a:solidFill>
                  <a:srgbClr val="065A82"/>
                </a:solidFill>
                <a:latin typeface="Calibri" pitchFamily="34" charset="0"/>
                <a:ea typeface="Calibri" pitchFamily="34" charset="-122"/>
                <a:cs typeface="Calibri" pitchFamily="34" charset="-120"/>
              </a:rPr>
              <a:t>Angle théorique</a:t>
            </a:r>
            <a:endParaRPr lang="en-US" sz="1150" dirty="0"/>
          </a:p>
        </p:txBody>
      </p:sp>
      <p:sp>
        <p:nvSpPr>
          <p:cNvPr id="22" name="Text 20"/>
          <p:cNvSpPr/>
          <p:nvPr/>
        </p:nvSpPr>
        <p:spPr>
          <a:xfrm>
            <a:off x="502920" y="4498848"/>
            <a:ext cx="8138160" cy="274320"/>
          </a:xfrm>
          <a:prstGeom prst="rect">
            <a:avLst/>
          </a:prstGeom>
          <a:noFill/>
          <a:ln/>
        </p:spPr>
        <p:txBody>
          <a:bodyPr wrap="square" lIns="0" tIns="0" rIns="0" bIns="0" rtlCol="0" anchor="ctr"/>
          <a:lstStyle/>
          <a:p>
            <a:pPr indent="0" marL="0">
              <a:buNone/>
            </a:pPr>
            <a:r>
              <a:rPr lang="en-US" sz="1100" i="1" dirty="0">
                <a:solidFill>
                  <a:srgbClr val="5A6478"/>
                </a:solidFill>
                <a:latin typeface="Calibri" pitchFamily="34" charset="0"/>
                <a:ea typeface="Calibri" pitchFamily="34" charset="-122"/>
                <a:cs typeface="Calibri" pitchFamily="34" charset="-120"/>
              </a:rPr>
              <a:t>Ces trois créneaux restent fidèles aux deux volets du projet initial : vulnérabilité et protection.</a:t>
            </a:r>
            <a:endParaRPr lang="en-US" sz="1100" dirty="0"/>
          </a:p>
        </p:txBody>
      </p:sp>
      <p:sp>
        <p:nvSpPr>
          <p:cNvPr id="23" name="Text 21"/>
          <p:cNvSpPr/>
          <p:nvPr/>
        </p:nvSpPr>
        <p:spPr>
          <a:xfrm>
            <a:off x="502920" y="4759452"/>
            <a:ext cx="4572000" cy="228600"/>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T. Diallo — Bilan S1 — EPT / EDPT</a:t>
            </a:r>
            <a:endParaRPr lang="en-US" sz="900" dirty="0"/>
          </a:p>
        </p:txBody>
      </p:sp>
      <p:sp>
        <p:nvSpPr>
          <p:cNvPr id="24" name="Text 22"/>
          <p:cNvSpPr/>
          <p:nvPr/>
        </p:nvSpPr>
        <p:spPr>
          <a:xfrm>
            <a:off x="8183880" y="4759452"/>
            <a:ext cx="457200" cy="228600"/>
          </a:xfrm>
          <a:prstGeom prst="rect">
            <a:avLst/>
          </a:prstGeom>
          <a:noFill/>
          <a:ln/>
        </p:spPr>
        <p:txBody>
          <a:bodyPr wrap="square" lIns="0" tIns="0" rIns="0" bIns="0" rtlCol="0" anchor="ctr"/>
          <a:lstStyle/>
          <a:p>
            <a:pPr algn="r" indent="0" marL="0">
              <a:buNone/>
            </a:pPr>
            <a:r>
              <a:rPr lang="en-US" sz="900" dirty="0">
                <a:solidFill>
                  <a:srgbClr val="5A647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138160" cy="219456"/>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VOLET VULNÉRABILITÉ</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Premier résultat en cours de rédaction</a:t>
            </a:r>
            <a:endParaRPr lang="en-US" sz="3000" dirty="0"/>
          </a:p>
        </p:txBody>
      </p:sp>
      <p:sp>
        <p:nvSpPr>
          <p:cNvPr id="4" name="Text 2"/>
          <p:cNvSpPr/>
          <p:nvPr/>
        </p:nvSpPr>
        <p:spPr>
          <a:xfrm>
            <a:off x="502920" y="1188720"/>
            <a:ext cx="8138160" cy="365760"/>
          </a:xfrm>
          <a:prstGeom prst="rect">
            <a:avLst/>
          </a:prstGeom>
          <a:noFill/>
          <a:ln/>
        </p:spPr>
        <p:txBody>
          <a:bodyPr wrap="square" lIns="0" tIns="0" rIns="0" bIns="0" rtlCol="0" anchor="ctr"/>
          <a:lstStyle/>
          <a:p>
            <a:pPr indent="0" marL="0">
              <a:buNone/>
            </a:pPr>
            <a:r>
              <a:rPr lang="en-US" sz="1700" b="1" dirty="0">
                <a:solidFill>
                  <a:srgbClr val="1C7293"/>
                </a:solidFill>
                <a:latin typeface="Cambria" pitchFamily="34" charset="0"/>
                <a:ea typeface="Cambria" pitchFamily="34" charset="-122"/>
                <a:cs typeface="Cambria" pitchFamily="34" charset="-120"/>
              </a:rPr>
              <a:t>La récupération de la couche de sortie ne dépend pas de l'activation</a:t>
            </a:r>
            <a:endParaRPr lang="en-US" sz="1700" dirty="0"/>
          </a:p>
        </p:txBody>
      </p:sp>
      <p:sp>
        <p:nvSpPr>
          <p:cNvPr id="5" name="Text 3"/>
          <p:cNvSpPr/>
          <p:nvPr/>
        </p:nvSpPr>
        <p:spPr>
          <a:xfrm>
            <a:off x="502920" y="1600200"/>
            <a:ext cx="8138160" cy="292608"/>
          </a:xfrm>
          <a:prstGeom prst="rect">
            <a:avLst/>
          </a:prstGeom>
          <a:noFill/>
          <a:ln/>
        </p:spPr>
        <p:txBody>
          <a:bodyPr wrap="square" lIns="0" tIns="0" rIns="0" bIns="0" rtlCol="0" anchor="ctr"/>
          <a:lstStyle/>
          <a:p>
            <a:pPr indent="0" marL="0">
              <a:buNone/>
            </a:pPr>
            <a:r>
              <a:rPr lang="en-US" sz="1200" dirty="0">
                <a:solidFill>
                  <a:srgbClr val="1B2233"/>
                </a:solidFill>
                <a:latin typeface="Calibri" pitchFamily="34" charset="0"/>
                <a:ea typeface="Calibri" pitchFamily="34" charset="-122"/>
                <a:cs typeface="Calibri" pitchFamily="34" charset="-120"/>
              </a:rPr>
              <a:t>La preuve de la Section 3 de l'article de départ n'utilise que trois hypothèses — aucune ne mentionne ReLU :</a:t>
            </a:r>
            <a:endParaRPr lang="en-US" sz="1200" dirty="0"/>
          </a:p>
        </p:txBody>
      </p:sp>
      <p:sp>
        <p:nvSpPr>
          <p:cNvPr id="6" name="Shape 4"/>
          <p:cNvSpPr/>
          <p:nvPr/>
        </p:nvSpPr>
        <p:spPr>
          <a:xfrm>
            <a:off x="502920" y="1993392"/>
            <a:ext cx="4846320" cy="420624"/>
          </a:xfrm>
          <a:prstGeom prst="roundRect">
            <a:avLst>
              <a:gd name="adj" fmla="val 13043"/>
            </a:avLst>
          </a:prstGeom>
          <a:solidFill>
            <a:srgbClr val="F4F6F9"/>
          </a:solidFill>
          <a:ln w="12700">
            <a:solidFill>
              <a:srgbClr val="F4F6F9"/>
            </a:solidFill>
            <a:prstDash val="solid"/>
          </a:ln>
        </p:spPr>
      </p:sp>
      <p:sp>
        <p:nvSpPr>
          <p:cNvPr id="7" name="Shape 5"/>
          <p:cNvSpPr/>
          <p:nvPr/>
        </p:nvSpPr>
        <p:spPr>
          <a:xfrm>
            <a:off x="630936" y="2075688"/>
            <a:ext cx="402336" cy="256032"/>
          </a:xfrm>
          <a:prstGeom prst="roundRect">
            <a:avLst>
              <a:gd name="adj" fmla="val 14286"/>
            </a:avLst>
          </a:prstGeom>
          <a:solidFill>
            <a:srgbClr val="065A82"/>
          </a:solidFill>
          <a:ln w="12700">
            <a:solidFill>
              <a:srgbClr val="333333"/>
            </a:solidFill>
            <a:prstDash val="solid"/>
          </a:ln>
        </p:spPr>
      </p:sp>
      <p:sp>
        <p:nvSpPr>
          <p:cNvPr id="8" name="Text 6"/>
          <p:cNvSpPr/>
          <p:nvPr/>
        </p:nvSpPr>
        <p:spPr>
          <a:xfrm>
            <a:off x="630936" y="2075688"/>
            <a:ext cx="402336"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H1</a:t>
            </a:r>
            <a:endParaRPr lang="en-US" sz="1000" dirty="0"/>
          </a:p>
        </p:txBody>
      </p:sp>
      <p:sp>
        <p:nvSpPr>
          <p:cNvPr id="9" name="Text 7"/>
          <p:cNvSpPr/>
          <p:nvPr/>
        </p:nvSpPr>
        <p:spPr>
          <a:xfrm>
            <a:off x="1161288" y="2039112"/>
            <a:ext cx="4069080" cy="329184"/>
          </a:xfrm>
          <a:prstGeom prst="rect">
            <a:avLst/>
          </a:prstGeom>
          <a:noFill/>
          <a:ln/>
        </p:spPr>
        <p:txBody>
          <a:bodyPr wrap="square" lIns="0" tIns="0" rIns="0" bIns="0" rtlCol="0" anchor="ctr"/>
          <a:lstStyle/>
          <a:p>
            <a:pPr indent="0" marL="0">
              <a:buNone/>
            </a:pPr>
            <a:r>
              <a:rPr lang="en-US" sz="1150" dirty="0">
                <a:solidFill>
                  <a:srgbClr val="1B2233"/>
                </a:solidFill>
                <a:latin typeface="Calibri" pitchFamily="34" charset="0"/>
                <a:ea typeface="Calibri" pitchFamily="34" charset="-122"/>
                <a:cs typeface="Calibri" pitchFamily="34" charset="-120"/>
              </a:rPr>
              <a:t>Aux points de transition, deux logits sont égaux</a:t>
            </a:r>
            <a:endParaRPr lang="en-US" sz="1150" dirty="0"/>
          </a:p>
        </p:txBody>
      </p:sp>
      <p:sp>
        <p:nvSpPr>
          <p:cNvPr id="10" name="Shape 8"/>
          <p:cNvSpPr/>
          <p:nvPr/>
        </p:nvSpPr>
        <p:spPr>
          <a:xfrm>
            <a:off x="502920" y="2496312"/>
            <a:ext cx="4846320" cy="420624"/>
          </a:xfrm>
          <a:prstGeom prst="roundRect">
            <a:avLst>
              <a:gd name="adj" fmla="val 13043"/>
            </a:avLst>
          </a:prstGeom>
          <a:solidFill>
            <a:srgbClr val="F4F6F9"/>
          </a:solidFill>
          <a:ln w="12700">
            <a:solidFill>
              <a:srgbClr val="F4F6F9"/>
            </a:solidFill>
            <a:prstDash val="solid"/>
          </a:ln>
        </p:spPr>
      </p:sp>
      <p:sp>
        <p:nvSpPr>
          <p:cNvPr id="11" name="Shape 9"/>
          <p:cNvSpPr/>
          <p:nvPr/>
        </p:nvSpPr>
        <p:spPr>
          <a:xfrm>
            <a:off x="630936" y="2578608"/>
            <a:ext cx="402336" cy="256032"/>
          </a:xfrm>
          <a:prstGeom prst="roundRect">
            <a:avLst>
              <a:gd name="adj" fmla="val 14286"/>
            </a:avLst>
          </a:prstGeom>
          <a:solidFill>
            <a:srgbClr val="065A82"/>
          </a:solidFill>
          <a:ln w="12700">
            <a:solidFill>
              <a:srgbClr val="333333"/>
            </a:solidFill>
            <a:prstDash val="solid"/>
          </a:ln>
        </p:spPr>
      </p:sp>
      <p:sp>
        <p:nvSpPr>
          <p:cNvPr id="12" name="Text 10"/>
          <p:cNvSpPr/>
          <p:nvPr/>
        </p:nvSpPr>
        <p:spPr>
          <a:xfrm>
            <a:off x="630936" y="2578608"/>
            <a:ext cx="402336"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H2</a:t>
            </a:r>
            <a:endParaRPr lang="en-US" sz="1000" dirty="0"/>
          </a:p>
        </p:txBody>
      </p:sp>
      <p:sp>
        <p:nvSpPr>
          <p:cNvPr id="13" name="Text 11"/>
          <p:cNvSpPr/>
          <p:nvPr/>
        </p:nvSpPr>
        <p:spPr>
          <a:xfrm>
            <a:off x="1161288" y="2542032"/>
            <a:ext cx="4069080" cy="329184"/>
          </a:xfrm>
          <a:prstGeom prst="rect">
            <a:avLst/>
          </a:prstGeom>
          <a:noFill/>
          <a:ln/>
        </p:spPr>
        <p:txBody>
          <a:bodyPr wrap="square" lIns="0" tIns="0" rIns="0" bIns="0" rtlCol="0" anchor="ctr"/>
          <a:lstStyle/>
          <a:p>
            <a:pPr indent="0" marL="0">
              <a:buNone/>
            </a:pPr>
            <a:r>
              <a:rPr lang="en-US" sz="1150" dirty="0">
                <a:solidFill>
                  <a:srgbClr val="1B2233"/>
                </a:solidFill>
                <a:latin typeface="Calibri" pitchFamily="34" charset="0"/>
                <a:ea typeface="Calibri" pitchFamily="34" charset="-122"/>
                <a:cs typeface="Calibri" pitchFamily="34" charset="-120"/>
              </a:rPr>
              <a:t>y = f₁..r(x) est calculable (couches précédentes extraites)</a:t>
            </a:r>
            <a:endParaRPr lang="en-US" sz="1150" dirty="0"/>
          </a:p>
        </p:txBody>
      </p:sp>
      <p:sp>
        <p:nvSpPr>
          <p:cNvPr id="14" name="Shape 12"/>
          <p:cNvSpPr/>
          <p:nvPr/>
        </p:nvSpPr>
        <p:spPr>
          <a:xfrm>
            <a:off x="502920" y="2999232"/>
            <a:ext cx="4846320" cy="420624"/>
          </a:xfrm>
          <a:prstGeom prst="roundRect">
            <a:avLst>
              <a:gd name="adj" fmla="val 13043"/>
            </a:avLst>
          </a:prstGeom>
          <a:solidFill>
            <a:srgbClr val="F4F6F9"/>
          </a:solidFill>
          <a:ln w="12700">
            <a:solidFill>
              <a:srgbClr val="F4F6F9"/>
            </a:solidFill>
            <a:prstDash val="solid"/>
          </a:ln>
        </p:spPr>
      </p:sp>
      <p:sp>
        <p:nvSpPr>
          <p:cNvPr id="15" name="Shape 13"/>
          <p:cNvSpPr/>
          <p:nvPr/>
        </p:nvSpPr>
        <p:spPr>
          <a:xfrm>
            <a:off x="630936" y="3081528"/>
            <a:ext cx="402336" cy="256032"/>
          </a:xfrm>
          <a:prstGeom prst="roundRect">
            <a:avLst>
              <a:gd name="adj" fmla="val 14286"/>
            </a:avLst>
          </a:prstGeom>
          <a:solidFill>
            <a:srgbClr val="065A82"/>
          </a:solidFill>
          <a:ln w="12700">
            <a:solidFill>
              <a:srgbClr val="333333"/>
            </a:solidFill>
            <a:prstDash val="solid"/>
          </a:ln>
        </p:spPr>
      </p:sp>
      <p:sp>
        <p:nvSpPr>
          <p:cNvPr id="16" name="Text 14"/>
          <p:cNvSpPr/>
          <p:nvPr/>
        </p:nvSpPr>
        <p:spPr>
          <a:xfrm>
            <a:off x="630936" y="3081528"/>
            <a:ext cx="402336"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H3</a:t>
            </a:r>
            <a:endParaRPr lang="en-US" sz="1000" dirty="0"/>
          </a:p>
        </p:txBody>
      </p:sp>
      <p:sp>
        <p:nvSpPr>
          <p:cNvPr id="17" name="Text 15"/>
          <p:cNvSpPr/>
          <p:nvPr/>
        </p:nvSpPr>
        <p:spPr>
          <a:xfrm>
            <a:off x="1161288" y="3044952"/>
            <a:ext cx="4069080" cy="329184"/>
          </a:xfrm>
          <a:prstGeom prst="rect">
            <a:avLst/>
          </a:prstGeom>
          <a:noFill/>
          <a:ln/>
        </p:spPr>
        <p:txBody>
          <a:bodyPr wrap="square" lIns="0" tIns="0" rIns="0" bIns="0" rtlCol="0" anchor="ctr"/>
          <a:lstStyle/>
          <a:p>
            <a:pPr indent="0" marL="0">
              <a:buNone/>
            </a:pPr>
            <a:r>
              <a:rPr lang="en-US" sz="1150" dirty="0">
                <a:solidFill>
                  <a:srgbClr val="1B2233"/>
                </a:solidFill>
                <a:latin typeface="Calibri" pitchFamily="34" charset="0"/>
                <a:ea typeface="Calibri" pitchFamily="34" charset="-122"/>
                <a:cs typeface="Calibri" pitchFamily="34" charset="-120"/>
              </a:rPr>
              <a:t>Softmax est invariante par translation et préserve l'ordre</a:t>
            </a:r>
            <a:endParaRPr lang="en-US" sz="1150" dirty="0"/>
          </a:p>
        </p:txBody>
      </p:sp>
      <p:sp>
        <p:nvSpPr>
          <p:cNvPr id="18" name="Shape 16"/>
          <p:cNvSpPr/>
          <p:nvPr/>
        </p:nvSpPr>
        <p:spPr>
          <a:xfrm>
            <a:off x="5623560" y="1993392"/>
            <a:ext cx="3017520" cy="1261872"/>
          </a:xfrm>
          <a:prstGeom prst="roundRect">
            <a:avLst>
              <a:gd name="adj" fmla="val 4348"/>
            </a:avLst>
          </a:prstGeom>
          <a:solidFill>
            <a:srgbClr val="E6F2F2"/>
          </a:solidFill>
          <a:ln w="12700">
            <a:solidFill>
              <a:srgbClr val="E6F2F2"/>
            </a:solidFill>
            <a:prstDash val="solid"/>
          </a:ln>
        </p:spPr>
      </p:sp>
      <p:sp>
        <p:nvSpPr>
          <p:cNvPr id="19" name="Text 17"/>
          <p:cNvSpPr/>
          <p:nvPr/>
        </p:nvSpPr>
        <p:spPr>
          <a:xfrm>
            <a:off x="5806440" y="2121408"/>
            <a:ext cx="2651760" cy="256032"/>
          </a:xfrm>
          <a:prstGeom prst="rect">
            <a:avLst/>
          </a:prstGeom>
          <a:noFill/>
          <a:ln/>
        </p:spPr>
        <p:txBody>
          <a:bodyPr wrap="square" lIns="0" tIns="0" rIns="0" bIns="0" rtlCol="0" anchor="ctr"/>
          <a:lstStyle/>
          <a:p>
            <a:pPr indent="0" marL="0">
              <a:buNone/>
            </a:pPr>
            <a:r>
              <a:rPr lang="en-US" sz="1050" b="1" spc="100" kern="0" dirty="0">
                <a:solidFill>
                  <a:srgbClr val="1C7293"/>
                </a:solidFill>
                <a:latin typeface="Calibri" pitchFamily="34" charset="0"/>
                <a:ea typeface="Calibri" pitchFamily="34" charset="-122"/>
                <a:cs typeface="Calibri" pitchFamily="34" charset="-120"/>
              </a:rPr>
              <a:t>Validation prévue</a:t>
            </a:r>
            <a:endParaRPr lang="en-US" sz="1050" dirty="0"/>
          </a:p>
        </p:txBody>
      </p:sp>
      <p:sp>
        <p:nvSpPr>
          <p:cNvPr id="20" name="Text 18"/>
          <p:cNvSpPr/>
          <p:nvPr/>
        </p:nvSpPr>
        <p:spPr>
          <a:xfrm>
            <a:off x="5806440" y="2395728"/>
            <a:ext cx="2651760" cy="777240"/>
          </a:xfrm>
          <a:prstGeom prst="rect">
            <a:avLst/>
          </a:prstGeom>
          <a:noFill/>
          <a:ln/>
        </p:spPr>
        <p:txBody>
          <a:bodyPr wrap="square" lIns="0" tIns="0" rIns="0" bIns="0" rtlCol="0" anchor="ctr"/>
          <a:lstStyle/>
          <a:p>
            <a:pPr indent="0" marL="0">
              <a:lnSpc>
                <a:spcPts val="1600"/>
              </a:lnSpc>
              <a:buNone/>
            </a:pPr>
            <a:r>
              <a:rPr lang="en-US" sz="1150" dirty="0">
                <a:solidFill>
                  <a:srgbClr val="1B2233"/>
                </a:solidFill>
                <a:latin typeface="Calibri" pitchFamily="34" charset="0"/>
                <a:ea typeface="Calibri" pitchFamily="34" charset="-122"/>
                <a:cs typeface="Calibri" pitchFamily="34" charset="-120"/>
              </a:rPr>
              <a:t>4 réseaux CIFAR-10 identiques</a:t>
            </a:r>
            <a:endParaRPr lang="en-US" sz="1150" dirty="0"/>
          </a:p>
          <a:p>
            <a:pPr indent="0" marL="0">
              <a:lnSpc>
                <a:spcPts val="1600"/>
              </a:lnSpc>
              <a:buNone/>
            </a:pPr>
            <a:r>
              <a:rPr lang="en-US" sz="1150" dirty="0">
                <a:solidFill>
                  <a:srgbClr val="1B2233"/>
                </a:solidFill>
                <a:latin typeface="Calibri" pitchFamily="34" charset="0"/>
                <a:ea typeface="Calibri" pitchFamily="34" charset="-122"/>
                <a:cs typeface="Calibri" pitchFamily="34" charset="-120"/>
              </a:rPr>
              <a:t>sauf l'activation :</a:t>
            </a:r>
            <a:endParaRPr lang="en-US" sz="1150" dirty="0"/>
          </a:p>
          <a:p>
            <a:pPr indent="0" marL="0">
              <a:lnSpc>
                <a:spcPts val="1600"/>
              </a:lnSpc>
              <a:buNone/>
            </a:pPr>
            <a:r>
              <a:rPr lang="en-US" sz="1150" dirty="0">
                <a:solidFill>
                  <a:srgbClr val="1B2233"/>
                </a:solidFill>
                <a:latin typeface="Calibri" pitchFamily="34" charset="0"/>
                <a:ea typeface="Calibri" pitchFamily="34" charset="-122"/>
                <a:cs typeface="Calibri" pitchFamily="34" charset="-120"/>
              </a:rPr>
              <a:t>ReLU · GELU · SiLU · tanh</a:t>
            </a:r>
            <a:endParaRPr lang="en-US" sz="1150" dirty="0"/>
          </a:p>
        </p:txBody>
      </p:sp>
      <p:sp>
        <p:nvSpPr>
          <p:cNvPr id="21" name="Shape 19"/>
          <p:cNvSpPr/>
          <p:nvPr/>
        </p:nvSpPr>
        <p:spPr>
          <a:xfrm>
            <a:off x="502920" y="3566160"/>
            <a:ext cx="8138160" cy="868680"/>
          </a:xfrm>
          <a:prstGeom prst="roundRect">
            <a:avLst>
              <a:gd name="adj" fmla="val 6316"/>
            </a:avLst>
          </a:prstGeom>
          <a:solidFill>
            <a:srgbClr val="FDF2E0"/>
          </a:solidFill>
          <a:ln w="12700">
            <a:solidFill>
              <a:srgbClr val="FDF2E0"/>
            </a:solidFill>
            <a:prstDash val="solid"/>
          </a:ln>
        </p:spPr>
      </p:sp>
      <p:sp>
        <p:nvSpPr>
          <p:cNvPr id="22" name="Text 20"/>
          <p:cNvSpPr/>
          <p:nvPr/>
        </p:nvSpPr>
        <p:spPr>
          <a:xfrm>
            <a:off x="722376" y="3675888"/>
            <a:ext cx="7726680" cy="658368"/>
          </a:xfrm>
          <a:prstGeom prst="rect">
            <a:avLst/>
          </a:prstGeom>
          <a:noFill/>
          <a:ln/>
        </p:spPr>
        <p:txBody>
          <a:bodyPr wrap="square" lIns="0" tIns="0" rIns="0" bIns="0" rtlCol="0" anchor="ctr"/>
          <a:lstStyle/>
          <a:p>
            <a:pPr indent="0" marL="0">
              <a:lnSpc>
                <a:spcPts val="1700"/>
              </a:lnSpc>
              <a:buNone/>
            </a:pPr>
            <a:r>
              <a:rPr lang="en-US" sz="1200" b="1" dirty="0">
                <a:solidFill>
                  <a:srgbClr val="8A5A10"/>
                </a:solidFill>
                <a:latin typeface="Calibri" pitchFamily="34" charset="0"/>
                <a:ea typeface="Calibri" pitchFamily="34" charset="-122"/>
                <a:cs typeface="Calibri" pitchFamily="34" charset="-120"/>
              </a:rPr>
              <a:t>Conséquence : le théorème se généralise à toute activation, sous réserve que les couches cachées soient extraites. Le verrou n'est donc pas la couche de sortie — c'est l'extraction des couches cachées non-ReLU en hard-label.</a:t>
            </a:r>
            <a:endParaRPr lang="en-US" sz="1200" dirty="0"/>
          </a:p>
        </p:txBody>
      </p:sp>
      <p:sp>
        <p:nvSpPr>
          <p:cNvPr id="23" name="Text 21"/>
          <p:cNvSpPr/>
          <p:nvPr/>
        </p:nvSpPr>
        <p:spPr>
          <a:xfrm>
            <a:off x="502920" y="4759452"/>
            <a:ext cx="4572000" cy="228600"/>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T. Diallo — Bilan S1 — EPT / EDPT</a:t>
            </a:r>
            <a:endParaRPr lang="en-US" sz="900" dirty="0"/>
          </a:p>
        </p:txBody>
      </p:sp>
      <p:sp>
        <p:nvSpPr>
          <p:cNvPr id="24" name="Text 22"/>
          <p:cNvSpPr/>
          <p:nvPr/>
        </p:nvSpPr>
        <p:spPr>
          <a:xfrm>
            <a:off x="8183880" y="4759452"/>
            <a:ext cx="457200" cy="228600"/>
          </a:xfrm>
          <a:prstGeom prst="rect">
            <a:avLst/>
          </a:prstGeom>
          <a:noFill/>
          <a:ln/>
        </p:spPr>
        <p:txBody>
          <a:bodyPr wrap="square" lIns="0" tIns="0" rIns="0" bIns="0" rtlCol="0" anchor="ctr"/>
          <a:lstStyle/>
          <a:p>
            <a:pPr algn="r" indent="0" marL="0">
              <a:buNone/>
            </a:pPr>
            <a:r>
              <a:rPr lang="en-US" sz="900" dirty="0">
                <a:solidFill>
                  <a:srgbClr val="5A6478"/>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138160" cy="219456"/>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CRÉNEAU A</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L'idée principale : suivre la courbure</a:t>
            </a:r>
            <a:endParaRPr lang="en-US" sz="3000" dirty="0"/>
          </a:p>
        </p:txBody>
      </p:sp>
      <p:sp>
        <p:nvSpPr>
          <p:cNvPr id="4" name="Text 2"/>
          <p:cNvSpPr/>
          <p:nvPr/>
        </p:nvSpPr>
        <p:spPr>
          <a:xfrm>
            <a:off x="502920" y="1188720"/>
            <a:ext cx="8138160" cy="457200"/>
          </a:xfrm>
          <a:prstGeom prst="rect">
            <a:avLst/>
          </a:prstGeom>
          <a:noFill/>
          <a:ln/>
        </p:spPr>
        <p:txBody>
          <a:bodyPr wrap="square" lIns="0" tIns="0" rIns="0" bIns="0" rtlCol="0" anchor="ctr"/>
          <a:lstStyle/>
          <a:p>
            <a:pPr indent="0" marL="0">
              <a:lnSpc>
                <a:spcPts val="1700"/>
              </a:lnSpc>
              <a:buNone/>
            </a:pPr>
            <a:r>
              <a:rPr lang="en-US" sz="1250" dirty="0">
                <a:solidFill>
                  <a:srgbClr val="1B2233"/>
                </a:solidFill>
                <a:latin typeface="Calibri" pitchFamily="34" charset="0"/>
                <a:ea typeface="Calibri" pitchFamily="34" charset="-122"/>
                <a:cs typeface="Calibri" pitchFamily="34" charset="-120"/>
              </a:rPr>
              <a:t>Chez ReLU, l'information est dans le pli de la frontière de décision. Chez GELU ou SiLU, le pli ne disparaît pas — il se régularise en une zone de forte courbure.</a:t>
            </a:r>
            <a:endParaRPr lang="en-US" sz="1250" dirty="0"/>
          </a:p>
        </p:txBody>
      </p:sp>
      <p:sp>
        <p:nvSpPr>
          <p:cNvPr id="5" name="Shape 3"/>
          <p:cNvSpPr/>
          <p:nvPr/>
        </p:nvSpPr>
        <p:spPr>
          <a:xfrm>
            <a:off x="502920" y="1755648"/>
            <a:ext cx="3931920" cy="1783080"/>
          </a:xfrm>
          <a:prstGeom prst="roundRect">
            <a:avLst>
              <a:gd name="adj" fmla="val 3077"/>
            </a:avLst>
          </a:prstGeom>
          <a:solidFill>
            <a:srgbClr val="F4F6F9"/>
          </a:solidFill>
          <a:ln w="12700">
            <a:solidFill>
              <a:srgbClr val="F4F6F9"/>
            </a:solidFill>
            <a:prstDash val="solid"/>
          </a:ln>
        </p:spPr>
      </p:sp>
      <p:sp>
        <p:nvSpPr>
          <p:cNvPr id="6" name="Text 4"/>
          <p:cNvSpPr/>
          <p:nvPr/>
        </p:nvSpPr>
        <p:spPr>
          <a:xfrm>
            <a:off x="685800" y="1847088"/>
            <a:ext cx="3566160" cy="256032"/>
          </a:xfrm>
          <a:prstGeom prst="rect">
            <a:avLst/>
          </a:prstGeom>
          <a:noFill/>
          <a:ln/>
        </p:spPr>
        <p:txBody>
          <a:bodyPr wrap="square" lIns="0" tIns="0" rIns="0" bIns="0" rtlCol="0" anchor="ctr"/>
          <a:lstStyle/>
          <a:p>
            <a:pPr indent="0" marL="0">
              <a:buNone/>
            </a:pPr>
            <a:r>
              <a:rPr lang="en-US" sz="1200" b="1" dirty="0">
                <a:solidFill>
                  <a:srgbClr val="21295C"/>
                </a:solidFill>
                <a:latin typeface="Calibri" pitchFamily="34" charset="0"/>
                <a:ea typeface="Calibri" pitchFamily="34" charset="-122"/>
                <a:cs typeface="Calibri" pitchFamily="34" charset="-120"/>
              </a:rPr>
              <a:t>ReLU — pli net</a:t>
            </a:r>
            <a:endParaRPr lang="en-US" sz="1200" dirty="0"/>
          </a:p>
        </p:txBody>
      </p:sp>
      <p:sp>
        <p:nvSpPr>
          <p:cNvPr id="7" name="Shape 5"/>
          <p:cNvSpPr/>
          <p:nvPr/>
        </p:nvSpPr>
        <p:spPr>
          <a:xfrm>
            <a:off x="914400" y="3127248"/>
            <a:ext cx="1463040" cy="-685800"/>
          </a:xfrm>
          <a:prstGeom prst="line">
            <a:avLst/>
          </a:prstGeom>
          <a:noFill/>
          <a:ln w="38100">
            <a:solidFill>
              <a:srgbClr val="065A82"/>
            </a:solidFill>
            <a:prstDash val="solid"/>
          </a:ln>
        </p:spPr>
      </p:sp>
      <p:sp>
        <p:nvSpPr>
          <p:cNvPr id="8" name="Shape 6"/>
          <p:cNvSpPr/>
          <p:nvPr/>
        </p:nvSpPr>
        <p:spPr>
          <a:xfrm>
            <a:off x="2377440" y="2441448"/>
            <a:ext cx="1554480" cy="-182880"/>
          </a:xfrm>
          <a:prstGeom prst="line">
            <a:avLst/>
          </a:prstGeom>
          <a:noFill/>
          <a:ln w="38100">
            <a:solidFill>
              <a:srgbClr val="065A82"/>
            </a:solidFill>
            <a:prstDash val="solid"/>
          </a:ln>
        </p:spPr>
      </p:sp>
      <p:sp>
        <p:nvSpPr>
          <p:cNvPr id="9" name="Shape 7"/>
          <p:cNvSpPr/>
          <p:nvPr/>
        </p:nvSpPr>
        <p:spPr>
          <a:xfrm>
            <a:off x="2267712" y="2331720"/>
            <a:ext cx="219456" cy="219456"/>
          </a:xfrm>
          <a:prstGeom prst="ellipse">
            <a:avLst/>
          </a:prstGeom>
          <a:solidFill>
            <a:srgbClr val="E8A33D"/>
          </a:solidFill>
          <a:ln w="12700">
            <a:solidFill>
              <a:srgbClr val="333333"/>
            </a:solidFill>
            <a:prstDash val="solid"/>
          </a:ln>
        </p:spPr>
      </p:sp>
      <p:sp>
        <p:nvSpPr>
          <p:cNvPr id="10" name="Text 8"/>
          <p:cNvSpPr/>
          <p:nvPr/>
        </p:nvSpPr>
        <p:spPr>
          <a:xfrm>
            <a:off x="685800" y="3182112"/>
            <a:ext cx="3566160" cy="256032"/>
          </a:xfrm>
          <a:prstGeom prst="rect">
            <a:avLst/>
          </a:prstGeom>
          <a:noFill/>
          <a:ln/>
        </p:spPr>
        <p:txBody>
          <a:bodyPr wrap="square" lIns="0" tIns="0" rIns="0" bIns="0" rtlCol="0" anchor="ctr"/>
          <a:lstStyle/>
          <a:p>
            <a:pPr algn="ctr" indent="0" marL="0">
              <a:buNone/>
            </a:pPr>
            <a:r>
              <a:rPr lang="en-US" sz="1050" i="1" dirty="0">
                <a:solidFill>
                  <a:srgbClr val="5A6478"/>
                </a:solidFill>
                <a:latin typeface="Calibri" pitchFamily="34" charset="0"/>
                <a:ea typeface="Calibri" pitchFamily="34" charset="-122"/>
                <a:cs typeface="Calibri" pitchFamily="34" charset="-120"/>
              </a:rPr>
              <a:t>normale discontinue</a:t>
            </a:r>
            <a:endParaRPr lang="en-US" sz="1050" dirty="0"/>
          </a:p>
        </p:txBody>
      </p:sp>
      <p:sp>
        <p:nvSpPr>
          <p:cNvPr id="11" name="Shape 9"/>
          <p:cNvSpPr/>
          <p:nvPr/>
        </p:nvSpPr>
        <p:spPr>
          <a:xfrm>
            <a:off x="4709160" y="1755648"/>
            <a:ext cx="3931920" cy="1783080"/>
          </a:xfrm>
          <a:prstGeom prst="roundRect">
            <a:avLst>
              <a:gd name="adj" fmla="val 3077"/>
            </a:avLst>
          </a:prstGeom>
          <a:solidFill>
            <a:srgbClr val="F4F6F9"/>
          </a:solidFill>
          <a:ln w="12700">
            <a:solidFill>
              <a:srgbClr val="F4F6F9"/>
            </a:solidFill>
            <a:prstDash val="solid"/>
          </a:ln>
        </p:spPr>
      </p:sp>
      <p:sp>
        <p:nvSpPr>
          <p:cNvPr id="12" name="Text 10"/>
          <p:cNvSpPr/>
          <p:nvPr/>
        </p:nvSpPr>
        <p:spPr>
          <a:xfrm>
            <a:off x="4892040" y="1847088"/>
            <a:ext cx="3566160" cy="256032"/>
          </a:xfrm>
          <a:prstGeom prst="rect">
            <a:avLst/>
          </a:prstGeom>
          <a:noFill/>
          <a:ln/>
        </p:spPr>
        <p:txBody>
          <a:bodyPr wrap="square" lIns="0" tIns="0" rIns="0" bIns="0" rtlCol="0" anchor="ctr"/>
          <a:lstStyle/>
          <a:p>
            <a:pPr indent="0" marL="0">
              <a:buNone/>
            </a:pPr>
            <a:r>
              <a:rPr lang="en-US" sz="1200" b="1" dirty="0">
                <a:solidFill>
                  <a:srgbClr val="21295C"/>
                </a:solidFill>
                <a:latin typeface="Calibri" pitchFamily="34" charset="0"/>
                <a:ea typeface="Calibri" pitchFamily="34" charset="-122"/>
                <a:cs typeface="Calibri" pitchFamily="34" charset="-120"/>
              </a:rPr>
              <a:t>GELU / SiLU — courbure concentrée</a:t>
            </a:r>
            <a:endParaRPr lang="en-US" sz="1200" dirty="0"/>
          </a:p>
        </p:txBody>
      </p:sp>
      <p:sp>
        <p:nvSpPr>
          <p:cNvPr id="13" name="Shape 11"/>
          <p:cNvSpPr/>
          <p:nvPr/>
        </p:nvSpPr>
        <p:spPr>
          <a:xfrm>
            <a:off x="5120640" y="3127248"/>
            <a:ext cx="457200" cy="-210312"/>
          </a:xfrm>
          <a:prstGeom prst="line">
            <a:avLst/>
          </a:prstGeom>
          <a:noFill/>
          <a:ln w="38100">
            <a:solidFill>
              <a:srgbClr val="1C7293"/>
            </a:solidFill>
            <a:prstDash val="solid"/>
          </a:ln>
        </p:spPr>
      </p:sp>
      <p:sp>
        <p:nvSpPr>
          <p:cNvPr id="14" name="Shape 12"/>
          <p:cNvSpPr/>
          <p:nvPr/>
        </p:nvSpPr>
        <p:spPr>
          <a:xfrm>
            <a:off x="5577840" y="2916936"/>
            <a:ext cx="457200" cy="-219456"/>
          </a:xfrm>
          <a:prstGeom prst="line">
            <a:avLst/>
          </a:prstGeom>
          <a:noFill/>
          <a:ln w="38100">
            <a:solidFill>
              <a:srgbClr val="1C7293"/>
            </a:solidFill>
            <a:prstDash val="solid"/>
          </a:ln>
        </p:spPr>
      </p:sp>
      <p:sp>
        <p:nvSpPr>
          <p:cNvPr id="15" name="Shape 13"/>
          <p:cNvSpPr/>
          <p:nvPr/>
        </p:nvSpPr>
        <p:spPr>
          <a:xfrm>
            <a:off x="6035040" y="2697480"/>
            <a:ext cx="365760" cy="-173736"/>
          </a:xfrm>
          <a:prstGeom prst="line">
            <a:avLst/>
          </a:prstGeom>
          <a:noFill/>
          <a:ln w="38100">
            <a:solidFill>
              <a:srgbClr val="1C7293"/>
            </a:solidFill>
            <a:prstDash val="solid"/>
          </a:ln>
        </p:spPr>
      </p:sp>
      <p:sp>
        <p:nvSpPr>
          <p:cNvPr id="16" name="Shape 14"/>
          <p:cNvSpPr/>
          <p:nvPr/>
        </p:nvSpPr>
        <p:spPr>
          <a:xfrm>
            <a:off x="6400800" y="2523744"/>
            <a:ext cx="274320" cy="-100584"/>
          </a:xfrm>
          <a:prstGeom prst="line">
            <a:avLst/>
          </a:prstGeom>
          <a:noFill/>
          <a:ln w="38100">
            <a:solidFill>
              <a:srgbClr val="1C7293"/>
            </a:solidFill>
            <a:prstDash val="solid"/>
          </a:ln>
        </p:spPr>
      </p:sp>
      <p:sp>
        <p:nvSpPr>
          <p:cNvPr id="17" name="Shape 15"/>
          <p:cNvSpPr/>
          <p:nvPr/>
        </p:nvSpPr>
        <p:spPr>
          <a:xfrm>
            <a:off x="6675120" y="2423160"/>
            <a:ext cx="274320" cy="-45720"/>
          </a:xfrm>
          <a:prstGeom prst="line">
            <a:avLst/>
          </a:prstGeom>
          <a:noFill/>
          <a:ln w="38100">
            <a:solidFill>
              <a:srgbClr val="1C7293"/>
            </a:solidFill>
            <a:prstDash val="solid"/>
          </a:ln>
        </p:spPr>
      </p:sp>
      <p:sp>
        <p:nvSpPr>
          <p:cNvPr id="18" name="Shape 16"/>
          <p:cNvSpPr/>
          <p:nvPr/>
        </p:nvSpPr>
        <p:spPr>
          <a:xfrm>
            <a:off x="6949440" y="2377440"/>
            <a:ext cx="411480" cy="-45720"/>
          </a:xfrm>
          <a:prstGeom prst="line">
            <a:avLst/>
          </a:prstGeom>
          <a:noFill/>
          <a:ln w="38100">
            <a:solidFill>
              <a:srgbClr val="1C7293"/>
            </a:solidFill>
            <a:prstDash val="solid"/>
          </a:ln>
        </p:spPr>
      </p:sp>
      <p:sp>
        <p:nvSpPr>
          <p:cNvPr id="19" name="Shape 17"/>
          <p:cNvSpPr/>
          <p:nvPr/>
        </p:nvSpPr>
        <p:spPr>
          <a:xfrm>
            <a:off x="7360920" y="2331720"/>
            <a:ext cx="411480" cy="-45720"/>
          </a:xfrm>
          <a:prstGeom prst="line">
            <a:avLst/>
          </a:prstGeom>
          <a:noFill/>
          <a:ln w="38100">
            <a:solidFill>
              <a:srgbClr val="1C7293"/>
            </a:solidFill>
            <a:prstDash val="solid"/>
          </a:ln>
        </p:spPr>
      </p:sp>
      <p:sp>
        <p:nvSpPr>
          <p:cNvPr id="20" name="Shape 18"/>
          <p:cNvSpPr/>
          <p:nvPr/>
        </p:nvSpPr>
        <p:spPr>
          <a:xfrm>
            <a:off x="7772400" y="2286000"/>
            <a:ext cx="365760" cy="-27432"/>
          </a:xfrm>
          <a:prstGeom prst="line">
            <a:avLst/>
          </a:prstGeom>
          <a:noFill/>
          <a:ln w="38100">
            <a:solidFill>
              <a:srgbClr val="1C7293"/>
            </a:solidFill>
            <a:prstDash val="solid"/>
          </a:ln>
        </p:spPr>
      </p:sp>
      <p:sp>
        <p:nvSpPr>
          <p:cNvPr id="21" name="Shape 19"/>
          <p:cNvSpPr/>
          <p:nvPr/>
        </p:nvSpPr>
        <p:spPr>
          <a:xfrm>
            <a:off x="6281928" y="2286000"/>
            <a:ext cx="658368" cy="384048"/>
          </a:xfrm>
          <a:prstGeom prst="roundRect">
            <a:avLst>
              <a:gd name="adj" fmla="val 11905"/>
            </a:avLst>
          </a:prstGeom>
          <a:solidFill>
            <a:srgbClr val="E8A33D"/>
          </a:solidFill>
          <a:ln w="12700">
            <a:solidFill>
              <a:srgbClr val="333333"/>
            </a:solidFill>
            <a:prstDash val="solid"/>
          </a:ln>
        </p:spPr>
      </p:sp>
      <p:sp>
        <p:nvSpPr>
          <p:cNvPr id="22" name="Text 20"/>
          <p:cNvSpPr/>
          <p:nvPr/>
        </p:nvSpPr>
        <p:spPr>
          <a:xfrm>
            <a:off x="4892040" y="3182112"/>
            <a:ext cx="3566160" cy="256032"/>
          </a:xfrm>
          <a:prstGeom prst="rect">
            <a:avLst/>
          </a:prstGeom>
          <a:noFill/>
          <a:ln/>
        </p:spPr>
        <p:txBody>
          <a:bodyPr wrap="square" lIns="0" tIns="0" rIns="0" bIns="0" rtlCol="0" anchor="ctr"/>
          <a:lstStyle/>
          <a:p>
            <a:pPr algn="ctr" indent="0" marL="0">
              <a:buNone/>
            </a:pPr>
            <a:r>
              <a:rPr lang="en-US" sz="1050" i="1" dirty="0">
                <a:solidFill>
                  <a:srgbClr val="5A6478"/>
                </a:solidFill>
                <a:latin typeface="Calibri" pitchFamily="34" charset="0"/>
                <a:ea typeface="Calibri" pitchFamily="34" charset="-122"/>
                <a:cs typeface="Calibri" pitchFamily="34" charset="-120"/>
              </a:rPr>
              <a:t>pic de ‖dm/ds‖ sur une largeur ~ε</a:t>
            </a:r>
            <a:endParaRPr lang="en-US" sz="1050" dirty="0"/>
          </a:p>
        </p:txBody>
      </p:sp>
      <p:sp>
        <p:nvSpPr>
          <p:cNvPr id="23" name="Text 21"/>
          <p:cNvSpPr/>
          <p:nvPr/>
        </p:nvSpPr>
        <p:spPr>
          <a:xfrm>
            <a:off x="502920" y="3675888"/>
            <a:ext cx="8138160" cy="502920"/>
          </a:xfrm>
          <a:prstGeom prst="rect">
            <a:avLst/>
          </a:prstGeom>
          <a:noFill/>
          <a:ln/>
        </p:spPr>
        <p:txBody>
          <a:bodyPr wrap="square" lIns="0" tIns="0" rIns="0" bIns="0" rtlCol="0" anchor="ctr"/>
          <a:lstStyle/>
          <a:p>
            <a:pPr indent="0" marL="0">
              <a:lnSpc>
                <a:spcPts val="1700"/>
              </a:lnSpc>
              <a:buNone/>
            </a:pPr>
            <a:r>
              <a:rPr lang="en-US" sz="1200" dirty="0">
                <a:solidFill>
                  <a:srgbClr val="1B2233"/>
                </a:solidFill>
                <a:latin typeface="Calibri" pitchFamily="34" charset="0"/>
                <a:ea typeface="Calibri" pitchFamily="34" charset="-122"/>
                <a:cs typeface="Calibri" pitchFamily="34" charset="-120"/>
              </a:rPr>
              <a:t>Programme : substituer un détecteur de pic de courbure au détecteur de pli d'EUROCRYPT 2025, puis mesurer la dégradation le long de l'axe de lissage — de Leaky ReLU jusqu'à tanh.</a:t>
            </a:r>
            <a:endParaRPr lang="en-US" sz="1200" dirty="0"/>
          </a:p>
        </p:txBody>
      </p:sp>
      <p:sp>
        <p:nvSpPr>
          <p:cNvPr id="24" name="Text 22"/>
          <p:cNvSpPr/>
          <p:nvPr/>
        </p:nvSpPr>
        <p:spPr>
          <a:xfrm>
            <a:off x="502920" y="4224528"/>
            <a:ext cx="8138160" cy="411480"/>
          </a:xfrm>
          <a:prstGeom prst="rect">
            <a:avLst/>
          </a:prstGeom>
          <a:noFill/>
          <a:ln/>
        </p:spPr>
        <p:txBody>
          <a:bodyPr wrap="square" lIns="0" tIns="0" rIns="0" bIns="0" rtlCol="0" anchor="ctr"/>
          <a:lstStyle/>
          <a:p>
            <a:pPr indent="0" marL="0">
              <a:lnSpc>
                <a:spcPts val="1600"/>
              </a:lnSpc>
              <a:buNone/>
            </a:pPr>
            <a:r>
              <a:rPr lang="en-US" sz="1150" b="1" i="1" dirty="0">
                <a:solidFill>
                  <a:srgbClr val="1C7293"/>
                </a:solidFill>
                <a:latin typeface="Calibri" pitchFamily="34" charset="0"/>
                <a:ea typeface="Calibri" pitchFamily="34" charset="-122"/>
                <a:cs typeface="Calibri" pitchFamily="34" charset="-120"/>
              </a:rPr>
              <a:t>Si l'attaque échoue pour tanh, le résultat négatif devient un résultat de sécurité : les activations saturantes protègent intrinsèquement.</a:t>
            </a:r>
            <a:endParaRPr lang="en-US" sz="1150" dirty="0"/>
          </a:p>
        </p:txBody>
      </p:sp>
      <p:sp>
        <p:nvSpPr>
          <p:cNvPr id="25" name="Text 23"/>
          <p:cNvSpPr/>
          <p:nvPr/>
        </p:nvSpPr>
        <p:spPr>
          <a:xfrm>
            <a:off x="502920" y="4759452"/>
            <a:ext cx="4572000" cy="228600"/>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T. Diallo — Bilan S1 — EPT / EDPT</a:t>
            </a:r>
            <a:endParaRPr lang="en-US" sz="900" dirty="0"/>
          </a:p>
        </p:txBody>
      </p:sp>
      <p:sp>
        <p:nvSpPr>
          <p:cNvPr id="26" name="Text 24"/>
          <p:cNvSpPr/>
          <p:nvPr/>
        </p:nvSpPr>
        <p:spPr>
          <a:xfrm>
            <a:off x="8183880" y="4759452"/>
            <a:ext cx="457200" cy="228600"/>
          </a:xfrm>
          <a:prstGeom prst="rect">
            <a:avLst/>
          </a:prstGeom>
          <a:noFill/>
          <a:ln/>
        </p:spPr>
        <p:txBody>
          <a:bodyPr wrap="square" lIns="0" tIns="0" rIns="0" bIns="0" rtlCol="0" anchor="ctr"/>
          <a:lstStyle/>
          <a:p>
            <a:pPr algn="r" indent="0" marL="0">
              <a:buNone/>
            </a:pPr>
            <a:r>
              <a:rPr lang="en-US" sz="900" dirty="0">
                <a:solidFill>
                  <a:srgbClr val="5A6478"/>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138160" cy="219456"/>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CRÉNEAU B</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L'idée de défense : randomisation de marge</a:t>
            </a:r>
            <a:endParaRPr lang="en-US" sz="3000" dirty="0"/>
          </a:p>
        </p:txBody>
      </p:sp>
      <p:sp>
        <p:nvSpPr>
          <p:cNvPr id="4" name="Shape 2"/>
          <p:cNvSpPr/>
          <p:nvPr/>
        </p:nvSpPr>
        <p:spPr>
          <a:xfrm>
            <a:off x="502920" y="1188720"/>
            <a:ext cx="8138160" cy="713232"/>
          </a:xfrm>
          <a:prstGeom prst="roundRect">
            <a:avLst>
              <a:gd name="adj" fmla="val 7692"/>
            </a:avLst>
          </a:prstGeom>
          <a:solidFill>
            <a:srgbClr val="FDF2E0"/>
          </a:solidFill>
          <a:ln w="12700">
            <a:solidFill>
              <a:srgbClr val="FDF2E0"/>
            </a:solidFill>
            <a:prstDash val="solid"/>
          </a:ln>
        </p:spPr>
      </p:sp>
      <p:sp>
        <p:nvSpPr>
          <p:cNvPr id="5" name="Text 3"/>
          <p:cNvSpPr/>
          <p:nvPr/>
        </p:nvSpPr>
        <p:spPr>
          <a:xfrm>
            <a:off x="722376" y="1316736"/>
            <a:ext cx="7726680" cy="475488"/>
          </a:xfrm>
          <a:prstGeom prst="rect">
            <a:avLst/>
          </a:prstGeom>
          <a:noFill/>
          <a:ln/>
        </p:spPr>
        <p:txBody>
          <a:bodyPr wrap="square" lIns="0" tIns="0" rIns="0" bIns="0" rtlCol="0" anchor="ctr"/>
          <a:lstStyle/>
          <a:p>
            <a:pPr indent="0" marL="0">
              <a:lnSpc>
                <a:spcPts val="1700"/>
              </a:lnSpc>
              <a:buNone/>
            </a:pPr>
            <a:r>
              <a:rPr lang="en-US" sz="1250" b="1" dirty="0">
                <a:solidFill>
                  <a:srgbClr val="8A5A10"/>
                </a:solidFill>
                <a:latin typeface="Calibri" pitchFamily="34" charset="0"/>
                <a:ea typeface="Calibri" pitchFamily="34" charset="-122"/>
                <a:cs typeface="Calibri" pitchFamily="34" charset="-120"/>
              </a:rPr>
              <a:t>Point faible documenté : l'attaque hard-label a besoin de localiser les points de transition à ≈ 10⁻¹³ de la vraie frontière.</a:t>
            </a:r>
            <a:endParaRPr lang="en-US" sz="1250" dirty="0"/>
          </a:p>
        </p:txBody>
      </p:sp>
      <p:sp>
        <p:nvSpPr>
          <p:cNvPr id="6" name="Shape 4"/>
          <p:cNvSpPr/>
          <p:nvPr/>
        </p:nvSpPr>
        <p:spPr>
          <a:xfrm>
            <a:off x="502920" y="2048256"/>
            <a:ext cx="384048" cy="384048"/>
          </a:xfrm>
          <a:prstGeom prst="ellipse">
            <a:avLst/>
          </a:prstGeom>
          <a:solidFill>
            <a:srgbClr val="065A82"/>
          </a:solidFill>
          <a:ln w="12700">
            <a:solidFill>
              <a:srgbClr val="065A82"/>
            </a:solidFill>
            <a:prstDash val="solid"/>
          </a:ln>
        </p:spPr>
      </p:sp>
      <p:sp>
        <p:nvSpPr>
          <p:cNvPr id="7" name="Text 5"/>
          <p:cNvSpPr/>
          <p:nvPr/>
        </p:nvSpPr>
        <p:spPr>
          <a:xfrm>
            <a:off x="502920" y="204825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051560" y="2020824"/>
            <a:ext cx="3200400" cy="274320"/>
          </a:xfrm>
          <a:prstGeom prst="rect">
            <a:avLst/>
          </a:prstGeom>
          <a:noFill/>
          <a:ln/>
        </p:spPr>
        <p:txBody>
          <a:bodyPr wrap="square" lIns="0" tIns="0" rIns="0" bIns="0" rtlCol="0" anchor="ctr"/>
          <a:lstStyle/>
          <a:p>
            <a:pPr indent="0" marL="0">
              <a:buNone/>
            </a:pPr>
            <a:r>
              <a:rPr lang="en-US" sz="1250" b="1" dirty="0">
                <a:solidFill>
                  <a:srgbClr val="21295C"/>
                </a:solidFill>
                <a:latin typeface="Calibri" pitchFamily="34" charset="0"/>
                <a:ea typeface="Calibri" pitchFamily="34" charset="-122"/>
                <a:cs typeface="Calibri" pitchFamily="34" charset="-120"/>
              </a:rPr>
              <a:t>Ne rien perturber loin de la frontière</a:t>
            </a:r>
            <a:endParaRPr lang="en-US" sz="1250" dirty="0"/>
          </a:p>
        </p:txBody>
      </p:sp>
      <p:sp>
        <p:nvSpPr>
          <p:cNvPr id="9" name="Text 7"/>
          <p:cNvSpPr/>
          <p:nvPr/>
        </p:nvSpPr>
        <p:spPr>
          <a:xfrm>
            <a:off x="4343400" y="2029968"/>
            <a:ext cx="4114800" cy="457200"/>
          </a:xfrm>
          <a:prstGeom prst="rect">
            <a:avLst/>
          </a:prstGeom>
          <a:noFill/>
          <a:ln/>
        </p:spPr>
        <p:txBody>
          <a:bodyPr wrap="square" lIns="0" tIns="0" rIns="0" bIns="0" rtlCol="0" anchor="ctr"/>
          <a:lstStyle/>
          <a:p>
            <a:pPr indent="0" marL="0">
              <a:lnSpc>
                <a:spcPts val="1500"/>
              </a:lnSpc>
              <a:buNone/>
            </a:pPr>
            <a:r>
              <a:rPr lang="en-US" sz="1100" dirty="0">
                <a:solidFill>
                  <a:srgbClr val="1B2233"/>
                </a:solidFill>
                <a:latin typeface="Calibri" pitchFamily="34" charset="0"/>
                <a:ea typeface="Calibri" pitchFamily="34" charset="-122"/>
                <a:cs typeface="Calibri" pitchFamily="34" charset="-120"/>
              </a:rPr>
              <a:t>Si la marge g(x) = logit₍₁₎ − logit₍₂₎ dépasse τ, la réponse est inchangée.</a:t>
            </a:r>
            <a:endParaRPr lang="en-US" sz="1100" dirty="0"/>
          </a:p>
        </p:txBody>
      </p:sp>
      <p:sp>
        <p:nvSpPr>
          <p:cNvPr id="10" name="Shape 8"/>
          <p:cNvSpPr/>
          <p:nvPr/>
        </p:nvSpPr>
        <p:spPr>
          <a:xfrm>
            <a:off x="502920" y="2688336"/>
            <a:ext cx="384048" cy="384048"/>
          </a:xfrm>
          <a:prstGeom prst="ellipse">
            <a:avLst/>
          </a:prstGeom>
          <a:solidFill>
            <a:srgbClr val="065A82"/>
          </a:solidFill>
          <a:ln w="12700">
            <a:solidFill>
              <a:srgbClr val="065A82"/>
            </a:solidFill>
            <a:prstDash val="solid"/>
          </a:ln>
        </p:spPr>
      </p:sp>
      <p:sp>
        <p:nvSpPr>
          <p:cNvPr id="11" name="Text 9"/>
          <p:cNvSpPr/>
          <p:nvPr/>
        </p:nvSpPr>
        <p:spPr>
          <a:xfrm>
            <a:off x="502920" y="268833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051560" y="2660904"/>
            <a:ext cx="3200400" cy="274320"/>
          </a:xfrm>
          <a:prstGeom prst="rect">
            <a:avLst/>
          </a:prstGeom>
          <a:noFill/>
          <a:ln/>
        </p:spPr>
        <p:txBody>
          <a:bodyPr wrap="square" lIns="0" tIns="0" rIns="0" bIns="0" rtlCol="0" anchor="ctr"/>
          <a:lstStyle/>
          <a:p>
            <a:pPr indent="0" marL="0">
              <a:buNone/>
            </a:pPr>
            <a:r>
              <a:rPr lang="en-US" sz="1250" b="1" dirty="0">
                <a:solidFill>
                  <a:srgbClr val="21295C"/>
                </a:solidFill>
                <a:latin typeface="Calibri" pitchFamily="34" charset="0"/>
                <a:ea typeface="Calibri" pitchFamily="34" charset="-122"/>
                <a:cs typeface="Calibri" pitchFamily="34" charset="-120"/>
              </a:rPr>
              <a:t>Randomiser dans la bande de marge τ</a:t>
            </a:r>
            <a:endParaRPr lang="en-US" sz="1250" dirty="0"/>
          </a:p>
        </p:txBody>
      </p:sp>
      <p:sp>
        <p:nvSpPr>
          <p:cNvPr id="13" name="Text 11"/>
          <p:cNvSpPr/>
          <p:nvPr/>
        </p:nvSpPr>
        <p:spPr>
          <a:xfrm>
            <a:off x="4343400" y="2670048"/>
            <a:ext cx="4114800" cy="457200"/>
          </a:xfrm>
          <a:prstGeom prst="rect">
            <a:avLst/>
          </a:prstGeom>
          <a:noFill/>
          <a:ln/>
        </p:spPr>
        <p:txBody>
          <a:bodyPr wrap="square" lIns="0" tIns="0" rIns="0" bIns="0" rtlCol="0" anchor="ctr"/>
          <a:lstStyle/>
          <a:p>
            <a:pPr indent="0" marL="0">
              <a:lnSpc>
                <a:spcPts val="1500"/>
              </a:lnSpc>
              <a:buNone/>
            </a:pPr>
            <a:r>
              <a:rPr lang="en-US" sz="1100" dirty="0">
                <a:solidFill>
                  <a:srgbClr val="1B2233"/>
                </a:solidFill>
                <a:latin typeface="Calibri" pitchFamily="34" charset="0"/>
                <a:ea typeface="Calibri" pitchFamily="34" charset="-122"/>
                <a:cs typeface="Calibri" pitchFamily="34" charset="-120"/>
              </a:rPr>
              <a:t>Si g(x) ≤ τ, le label suit une fonction pseudo-aléatoire déterministe de x.</a:t>
            </a:r>
            <a:endParaRPr lang="en-US" sz="1100" dirty="0"/>
          </a:p>
        </p:txBody>
      </p:sp>
      <p:sp>
        <p:nvSpPr>
          <p:cNvPr id="14" name="Shape 12"/>
          <p:cNvSpPr/>
          <p:nvPr/>
        </p:nvSpPr>
        <p:spPr>
          <a:xfrm>
            <a:off x="502920" y="3328416"/>
            <a:ext cx="384048" cy="384048"/>
          </a:xfrm>
          <a:prstGeom prst="ellipse">
            <a:avLst/>
          </a:prstGeom>
          <a:solidFill>
            <a:srgbClr val="065A82"/>
          </a:solidFill>
          <a:ln w="12700">
            <a:solidFill>
              <a:srgbClr val="065A82"/>
            </a:solidFill>
            <a:prstDash val="solid"/>
          </a:ln>
        </p:spPr>
      </p:sp>
      <p:sp>
        <p:nvSpPr>
          <p:cNvPr id="15" name="Text 13"/>
          <p:cNvSpPr/>
          <p:nvPr/>
        </p:nvSpPr>
        <p:spPr>
          <a:xfrm>
            <a:off x="502920" y="332841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4"/>
          <p:cNvSpPr/>
          <p:nvPr/>
        </p:nvSpPr>
        <p:spPr>
          <a:xfrm>
            <a:off x="1051560" y="3300984"/>
            <a:ext cx="3200400" cy="274320"/>
          </a:xfrm>
          <a:prstGeom prst="rect">
            <a:avLst/>
          </a:prstGeom>
          <a:noFill/>
          <a:ln/>
        </p:spPr>
        <p:txBody>
          <a:bodyPr wrap="square" lIns="0" tIns="0" rIns="0" bIns="0" rtlCol="0" anchor="ctr"/>
          <a:lstStyle/>
          <a:p>
            <a:pPr indent="0" marL="0">
              <a:buNone/>
            </a:pPr>
            <a:r>
              <a:rPr lang="en-US" sz="1250" b="1" dirty="0">
                <a:solidFill>
                  <a:srgbClr val="21295C"/>
                </a:solidFill>
                <a:latin typeface="Calibri" pitchFamily="34" charset="0"/>
                <a:ea typeface="Calibri" pitchFamily="34" charset="-122"/>
                <a:cs typeface="Calibri" pitchFamily="34" charset="-120"/>
              </a:rPr>
              <a:t>Déterminisme par clé secrète</a:t>
            </a:r>
            <a:endParaRPr lang="en-US" sz="1250" dirty="0"/>
          </a:p>
        </p:txBody>
      </p:sp>
      <p:sp>
        <p:nvSpPr>
          <p:cNvPr id="17" name="Text 15"/>
          <p:cNvSpPr/>
          <p:nvPr/>
        </p:nvSpPr>
        <p:spPr>
          <a:xfrm>
            <a:off x="4343400" y="3310128"/>
            <a:ext cx="4114800" cy="457200"/>
          </a:xfrm>
          <a:prstGeom prst="rect">
            <a:avLst/>
          </a:prstGeom>
          <a:noFill/>
          <a:ln/>
        </p:spPr>
        <p:txBody>
          <a:bodyPr wrap="square" lIns="0" tIns="0" rIns="0" bIns="0" rtlCol="0" anchor="ctr"/>
          <a:lstStyle/>
          <a:p>
            <a:pPr indent="0" marL="0">
              <a:lnSpc>
                <a:spcPts val="1500"/>
              </a:lnSpc>
              <a:buNone/>
            </a:pPr>
            <a:r>
              <a:rPr lang="en-US" sz="1100" dirty="0">
                <a:solidFill>
                  <a:srgbClr val="1B2233"/>
                </a:solidFill>
                <a:latin typeface="Calibri" pitchFamily="34" charset="0"/>
                <a:ea typeface="Calibri" pitchFamily="34" charset="-122"/>
                <a:cs typeface="Calibri" pitchFamily="34" charset="-120"/>
              </a:rPr>
              <a:t>Empêche l'attaquant de moyenner en répétant la même requête.</a:t>
            </a:r>
            <a:endParaRPr lang="en-US" sz="1100" dirty="0"/>
          </a:p>
        </p:txBody>
      </p:sp>
      <p:sp>
        <p:nvSpPr>
          <p:cNvPr id="18" name="Shape 16"/>
          <p:cNvSpPr/>
          <p:nvPr/>
        </p:nvSpPr>
        <p:spPr>
          <a:xfrm>
            <a:off x="502920" y="4023360"/>
            <a:ext cx="3931920" cy="658368"/>
          </a:xfrm>
          <a:prstGeom prst="roundRect">
            <a:avLst>
              <a:gd name="adj" fmla="val 8333"/>
            </a:avLst>
          </a:prstGeom>
          <a:solidFill>
            <a:srgbClr val="F4F6F9"/>
          </a:solidFill>
          <a:ln w="12700">
            <a:solidFill>
              <a:srgbClr val="F4F6F9"/>
            </a:solidFill>
            <a:prstDash val="solid"/>
          </a:ln>
        </p:spPr>
      </p:sp>
      <p:sp>
        <p:nvSpPr>
          <p:cNvPr id="19" name="Text 17"/>
          <p:cNvSpPr/>
          <p:nvPr/>
        </p:nvSpPr>
        <p:spPr>
          <a:xfrm>
            <a:off x="685800" y="4096512"/>
            <a:ext cx="3566160" cy="237744"/>
          </a:xfrm>
          <a:prstGeom prst="rect">
            <a:avLst/>
          </a:prstGeom>
          <a:noFill/>
          <a:ln/>
        </p:spPr>
        <p:txBody>
          <a:bodyPr wrap="square" lIns="0" tIns="0" rIns="0" bIns="0" rtlCol="0" anchor="ctr"/>
          <a:lstStyle/>
          <a:p>
            <a:pPr indent="0" marL="0">
              <a:buNone/>
            </a:pPr>
            <a:r>
              <a:rPr lang="en-US" sz="1050" b="1" spc="100" kern="0" dirty="0">
                <a:solidFill>
                  <a:srgbClr val="1C7293"/>
                </a:solidFill>
                <a:latin typeface="Calibri" pitchFamily="34" charset="0"/>
                <a:ea typeface="Calibri" pitchFamily="34" charset="-122"/>
                <a:cs typeface="Calibri" pitchFamily="34" charset="-120"/>
              </a:rPr>
              <a:t>Effet attendu</a:t>
            </a:r>
            <a:endParaRPr lang="en-US" sz="1050" dirty="0"/>
          </a:p>
        </p:txBody>
      </p:sp>
      <p:sp>
        <p:nvSpPr>
          <p:cNvPr id="20" name="Text 18"/>
          <p:cNvSpPr/>
          <p:nvPr/>
        </p:nvSpPr>
        <p:spPr>
          <a:xfrm>
            <a:off x="685800" y="4315968"/>
            <a:ext cx="3611880" cy="310896"/>
          </a:xfrm>
          <a:prstGeom prst="rect">
            <a:avLst/>
          </a:prstGeom>
          <a:noFill/>
          <a:ln/>
        </p:spPr>
        <p:txBody>
          <a:bodyPr wrap="square" lIns="0" tIns="0" rIns="0" bIns="0" rtlCol="0" anchor="ctr"/>
          <a:lstStyle/>
          <a:p>
            <a:pPr indent="0" marL="0">
              <a:lnSpc>
                <a:spcPts val="1300"/>
              </a:lnSpc>
              <a:buNone/>
            </a:pPr>
            <a:r>
              <a:rPr lang="en-US" sz="1050" dirty="0">
                <a:solidFill>
                  <a:srgbClr val="1B2233"/>
                </a:solidFill>
                <a:latin typeface="Calibri" pitchFamily="34" charset="0"/>
                <a:ea typeface="Calibri" pitchFamily="34" charset="-122"/>
                <a:cs typeface="Calibri" pitchFamily="34" charset="-120"/>
              </a:rPr>
              <a:t>Frontière bruitée à l'échelle τ ≫ 10⁻¹³ → systèmes mal conditionnés</a:t>
            </a:r>
            <a:endParaRPr lang="en-US" sz="1050" dirty="0"/>
          </a:p>
        </p:txBody>
      </p:sp>
      <p:sp>
        <p:nvSpPr>
          <p:cNvPr id="21" name="Shape 19"/>
          <p:cNvSpPr/>
          <p:nvPr/>
        </p:nvSpPr>
        <p:spPr>
          <a:xfrm>
            <a:off x="4709160" y="4023360"/>
            <a:ext cx="3931920" cy="658368"/>
          </a:xfrm>
          <a:prstGeom prst="roundRect">
            <a:avLst>
              <a:gd name="adj" fmla="val 8333"/>
            </a:avLst>
          </a:prstGeom>
          <a:solidFill>
            <a:srgbClr val="F4F6F9"/>
          </a:solidFill>
          <a:ln w="12700">
            <a:solidFill>
              <a:srgbClr val="F4F6F9"/>
            </a:solidFill>
            <a:prstDash val="solid"/>
          </a:ln>
        </p:spPr>
      </p:sp>
      <p:sp>
        <p:nvSpPr>
          <p:cNvPr id="22" name="Text 20"/>
          <p:cNvSpPr/>
          <p:nvPr/>
        </p:nvSpPr>
        <p:spPr>
          <a:xfrm>
            <a:off x="4892040" y="4096512"/>
            <a:ext cx="3566160" cy="237744"/>
          </a:xfrm>
          <a:prstGeom prst="rect">
            <a:avLst/>
          </a:prstGeom>
          <a:noFill/>
          <a:ln/>
        </p:spPr>
        <p:txBody>
          <a:bodyPr wrap="square" lIns="0" tIns="0" rIns="0" bIns="0" rtlCol="0" anchor="ctr"/>
          <a:lstStyle/>
          <a:p>
            <a:pPr indent="0" marL="0">
              <a:buNone/>
            </a:pPr>
            <a:r>
              <a:rPr lang="en-US" sz="1050" b="1" spc="100" kern="0" dirty="0">
                <a:solidFill>
                  <a:srgbClr val="E8A33D"/>
                </a:solidFill>
                <a:latin typeface="Calibri" pitchFamily="34" charset="0"/>
                <a:ea typeface="Calibri" pitchFamily="34" charset="-122"/>
                <a:cs typeface="Calibri" pitchFamily="34" charset="-120"/>
              </a:rPr>
              <a:t>Coût en utilité</a:t>
            </a:r>
            <a:endParaRPr lang="en-US" sz="1050" dirty="0"/>
          </a:p>
        </p:txBody>
      </p:sp>
      <p:sp>
        <p:nvSpPr>
          <p:cNvPr id="23" name="Text 21"/>
          <p:cNvSpPr/>
          <p:nvPr/>
        </p:nvSpPr>
        <p:spPr>
          <a:xfrm>
            <a:off x="4892040" y="4315968"/>
            <a:ext cx="3611880" cy="310896"/>
          </a:xfrm>
          <a:prstGeom prst="rect">
            <a:avLst/>
          </a:prstGeom>
          <a:noFill/>
          <a:ln/>
        </p:spPr>
        <p:txBody>
          <a:bodyPr wrap="square" lIns="0" tIns="0" rIns="0" bIns="0" rtlCol="0" anchor="ctr"/>
          <a:lstStyle/>
          <a:p>
            <a:pPr indent="0" marL="0">
              <a:lnSpc>
                <a:spcPts val="1300"/>
              </a:lnSpc>
              <a:buNone/>
            </a:pPr>
            <a:r>
              <a:rPr lang="en-US" sz="1050" dirty="0">
                <a:solidFill>
                  <a:srgbClr val="1B2233"/>
                </a:solidFill>
                <a:latin typeface="Calibri" pitchFamily="34" charset="0"/>
                <a:ea typeface="Calibri" pitchFamily="34" charset="-122"/>
                <a:cs typeface="Calibri" pitchFamily="34" charset="-120"/>
              </a:rPr>
              <a:t>Seules les entrées de marge &lt; τ, où le modèle est déjà incertain</a:t>
            </a:r>
            <a:endParaRPr lang="en-US" sz="1050" dirty="0"/>
          </a:p>
        </p:txBody>
      </p:sp>
      <p:sp>
        <p:nvSpPr>
          <p:cNvPr id="24" name="Text 22"/>
          <p:cNvSpPr/>
          <p:nvPr/>
        </p:nvSpPr>
        <p:spPr>
          <a:xfrm>
            <a:off x="502920" y="4759452"/>
            <a:ext cx="4572000" cy="228600"/>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T. Diallo — Bilan S1 — EPT / EDPT</a:t>
            </a:r>
            <a:endParaRPr lang="en-US" sz="900" dirty="0"/>
          </a:p>
        </p:txBody>
      </p:sp>
      <p:sp>
        <p:nvSpPr>
          <p:cNvPr id="25" name="Text 23"/>
          <p:cNvSpPr/>
          <p:nvPr/>
        </p:nvSpPr>
        <p:spPr>
          <a:xfrm>
            <a:off x="8183880" y="4759452"/>
            <a:ext cx="457200" cy="228600"/>
          </a:xfrm>
          <a:prstGeom prst="rect">
            <a:avLst/>
          </a:prstGeom>
          <a:noFill/>
          <a:ln/>
        </p:spPr>
        <p:txBody>
          <a:bodyPr wrap="square" lIns="0" tIns="0" rIns="0" bIns="0" rtlCol="0" anchor="ctr"/>
          <a:lstStyle/>
          <a:p>
            <a:pPr algn="r" indent="0" marL="0">
              <a:buNone/>
            </a:pPr>
            <a:r>
              <a:rPr lang="en-US" sz="900" dirty="0">
                <a:solidFill>
                  <a:srgbClr val="5A6478"/>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138160" cy="219456"/>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QUATRE LOTS DE TRAVAIL</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Plan du semestre 2</a:t>
            </a:r>
            <a:endParaRPr lang="en-US" sz="3000" dirty="0"/>
          </a:p>
        </p:txBody>
      </p:sp>
      <p:sp>
        <p:nvSpPr>
          <p:cNvPr id="4" name="Shape 2"/>
          <p:cNvSpPr/>
          <p:nvPr/>
        </p:nvSpPr>
        <p:spPr>
          <a:xfrm>
            <a:off x="502920" y="1188720"/>
            <a:ext cx="8138160" cy="658368"/>
          </a:xfrm>
          <a:prstGeom prst="roundRect">
            <a:avLst>
              <a:gd name="adj" fmla="val 8333"/>
            </a:avLst>
          </a:prstGeom>
          <a:solidFill>
            <a:srgbClr val="F4F6F9"/>
          </a:solidFill>
          <a:ln w="12700">
            <a:solidFill>
              <a:srgbClr val="F4F6F9"/>
            </a:solidFill>
            <a:prstDash val="solid"/>
          </a:ln>
        </p:spPr>
      </p:sp>
      <p:sp>
        <p:nvSpPr>
          <p:cNvPr id="5" name="Shape 3"/>
          <p:cNvSpPr/>
          <p:nvPr/>
        </p:nvSpPr>
        <p:spPr>
          <a:xfrm>
            <a:off x="667512" y="1344168"/>
            <a:ext cx="658368" cy="347472"/>
          </a:xfrm>
          <a:prstGeom prst="roundRect">
            <a:avLst>
              <a:gd name="adj" fmla="val 13158"/>
            </a:avLst>
          </a:prstGeom>
          <a:solidFill>
            <a:srgbClr val="1C7293"/>
          </a:solidFill>
          <a:ln w="12700">
            <a:solidFill>
              <a:srgbClr val="333333"/>
            </a:solidFill>
            <a:prstDash val="solid"/>
          </a:ln>
        </p:spPr>
      </p:sp>
      <p:sp>
        <p:nvSpPr>
          <p:cNvPr id="6" name="Text 4"/>
          <p:cNvSpPr/>
          <p:nvPr/>
        </p:nvSpPr>
        <p:spPr>
          <a:xfrm>
            <a:off x="667512" y="1344168"/>
            <a:ext cx="658368"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WP1</a:t>
            </a:r>
            <a:endParaRPr lang="en-US" sz="1200" dirty="0"/>
          </a:p>
        </p:txBody>
      </p:sp>
      <p:sp>
        <p:nvSpPr>
          <p:cNvPr id="7" name="Text 5"/>
          <p:cNvSpPr/>
          <p:nvPr/>
        </p:nvSpPr>
        <p:spPr>
          <a:xfrm>
            <a:off x="1463040" y="1271016"/>
            <a:ext cx="3840480" cy="27432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Taxonomie géométrique des activations</a:t>
            </a:r>
            <a:endParaRPr lang="en-US" sz="1300" dirty="0"/>
          </a:p>
        </p:txBody>
      </p:sp>
      <p:sp>
        <p:nvSpPr>
          <p:cNvPr id="8" name="Text 6"/>
          <p:cNvSpPr/>
          <p:nvPr/>
        </p:nvSpPr>
        <p:spPr>
          <a:xfrm>
            <a:off x="1463040" y="1536192"/>
            <a:ext cx="5120640" cy="256032"/>
          </a:xfrm>
          <a:prstGeom prst="rect">
            <a:avLst/>
          </a:prstGeom>
          <a:noFill/>
          <a:ln/>
        </p:spPr>
        <p:txBody>
          <a:bodyPr wrap="square" lIns="0" tIns="0" rIns="0" bIns="0" rtlCol="0" anchor="ctr"/>
          <a:lstStyle/>
          <a:p>
            <a:pPr indent="0" marL="0">
              <a:buNone/>
            </a:pPr>
            <a:r>
              <a:rPr lang="en-US" sz="1050" dirty="0">
                <a:solidFill>
                  <a:srgbClr val="5A6478"/>
                </a:solidFill>
                <a:latin typeface="Calibri" pitchFamily="34" charset="0"/>
                <a:ea typeface="Calibri" pitchFamily="34" charset="-122"/>
                <a:cs typeface="Calibri" pitchFamily="34" charset="-120"/>
              </a:rPr>
              <a:t>Cadre formel : largeur de bande non-linéaire, symétries</a:t>
            </a:r>
            <a:endParaRPr lang="en-US" sz="1050" dirty="0"/>
          </a:p>
        </p:txBody>
      </p:sp>
      <p:sp>
        <p:nvSpPr>
          <p:cNvPr id="9" name="Text 7"/>
          <p:cNvSpPr/>
          <p:nvPr/>
        </p:nvSpPr>
        <p:spPr>
          <a:xfrm>
            <a:off x="7269480" y="1371600"/>
            <a:ext cx="1188720" cy="292608"/>
          </a:xfrm>
          <a:prstGeom prst="rect">
            <a:avLst/>
          </a:prstGeom>
          <a:noFill/>
          <a:ln/>
        </p:spPr>
        <p:txBody>
          <a:bodyPr wrap="square" lIns="0" tIns="0" rIns="0" bIns="0" rtlCol="0" anchor="ctr"/>
          <a:lstStyle/>
          <a:p>
            <a:pPr algn="r" indent="0" marL="0">
              <a:buNone/>
            </a:pPr>
            <a:r>
              <a:rPr lang="en-US" sz="1400" b="1" dirty="0">
                <a:solidFill>
                  <a:srgbClr val="1C7293"/>
                </a:solidFill>
                <a:latin typeface="Cambria" pitchFamily="34" charset="0"/>
                <a:ea typeface="Cambria" pitchFamily="34" charset="-122"/>
                <a:cs typeface="Cambria" pitchFamily="34" charset="-120"/>
              </a:rPr>
              <a:t>4 sem.</a:t>
            </a:r>
            <a:endParaRPr lang="en-US" sz="1400" dirty="0"/>
          </a:p>
        </p:txBody>
      </p:sp>
      <p:sp>
        <p:nvSpPr>
          <p:cNvPr id="10" name="Shape 8"/>
          <p:cNvSpPr/>
          <p:nvPr/>
        </p:nvSpPr>
        <p:spPr>
          <a:xfrm>
            <a:off x="502920" y="1947672"/>
            <a:ext cx="8138160" cy="658368"/>
          </a:xfrm>
          <a:prstGeom prst="roundRect">
            <a:avLst>
              <a:gd name="adj" fmla="val 8333"/>
            </a:avLst>
          </a:prstGeom>
          <a:solidFill>
            <a:srgbClr val="F4F6F9"/>
          </a:solidFill>
          <a:ln w="12700">
            <a:solidFill>
              <a:srgbClr val="F4F6F9"/>
            </a:solidFill>
            <a:prstDash val="solid"/>
          </a:ln>
        </p:spPr>
      </p:sp>
      <p:sp>
        <p:nvSpPr>
          <p:cNvPr id="11" name="Shape 9"/>
          <p:cNvSpPr/>
          <p:nvPr/>
        </p:nvSpPr>
        <p:spPr>
          <a:xfrm>
            <a:off x="667512" y="2103120"/>
            <a:ext cx="658368" cy="347472"/>
          </a:xfrm>
          <a:prstGeom prst="roundRect">
            <a:avLst>
              <a:gd name="adj" fmla="val 13158"/>
            </a:avLst>
          </a:prstGeom>
          <a:solidFill>
            <a:srgbClr val="065A82"/>
          </a:solidFill>
          <a:ln w="12700">
            <a:solidFill>
              <a:srgbClr val="333333"/>
            </a:solidFill>
            <a:prstDash val="solid"/>
          </a:ln>
        </p:spPr>
      </p:sp>
      <p:sp>
        <p:nvSpPr>
          <p:cNvPr id="12" name="Text 10"/>
          <p:cNvSpPr/>
          <p:nvPr/>
        </p:nvSpPr>
        <p:spPr>
          <a:xfrm>
            <a:off x="667512" y="2103120"/>
            <a:ext cx="658368"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WP2</a:t>
            </a:r>
            <a:endParaRPr lang="en-US" sz="1200" dirty="0"/>
          </a:p>
        </p:txBody>
      </p:sp>
      <p:sp>
        <p:nvSpPr>
          <p:cNvPr id="13" name="Text 11"/>
          <p:cNvSpPr/>
          <p:nvPr/>
        </p:nvSpPr>
        <p:spPr>
          <a:xfrm>
            <a:off x="1463040" y="2029968"/>
            <a:ext cx="3840480" cy="27432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Généralisation de la couche de sortie</a:t>
            </a:r>
            <a:endParaRPr lang="en-US" sz="1300" dirty="0"/>
          </a:p>
        </p:txBody>
      </p:sp>
      <p:sp>
        <p:nvSpPr>
          <p:cNvPr id="14" name="Text 12"/>
          <p:cNvSpPr/>
          <p:nvPr/>
        </p:nvSpPr>
        <p:spPr>
          <a:xfrm>
            <a:off x="1463040" y="2295144"/>
            <a:ext cx="5120640" cy="256032"/>
          </a:xfrm>
          <a:prstGeom prst="rect">
            <a:avLst/>
          </a:prstGeom>
          <a:noFill/>
          <a:ln/>
        </p:spPr>
        <p:txBody>
          <a:bodyPr wrap="square" lIns="0" tIns="0" rIns="0" bIns="0" rtlCol="0" anchor="ctr"/>
          <a:lstStyle/>
          <a:p>
            <a:pPr indent="0" marL="0">
              <a:buNone/>
            </a:pPr>
            <a:r>
              <a:rPr lang="en-US" sz="1050" dirty="0">
                <a:solidFill>
                  <a:srgbClr val="5A6478"/>
                </a:solidFill>
                <a:latin typeface="Calibri" pitchFamily="34" charset="0"/>
                <a:ea typeface="Calibri" pitchFamily="34" charset="-122"/>
                <a:cs typeface="Calibri" pitchFamily="34" charset="-120"/>
              </a:rPr>
              <a:t>Théorème + validation sur 4 réseaux</a:t>
            </a:r>
            <a:endParaRPr lang="en-US" sz="1050" dirty="0"/>
          </a:p>
        </p:txBody>
      </p:sp>
      <p:sp>
        <p:nvSpPr>
          <p:cNvPr id="15" name="Text 13"/>
          <p:cNvSpPr/>
          <p:nvPr/>
        </p:nvSpPr>
        <p:spPr>
          <a:xfrm>
            <a:off x="7269480" y="2130552"/>
            <a:ext cx="1188720" cy="292608"/>
          </a:xfrm>
          <a:prstGeom prst="rect">
            <a:avLst/>
          </a:prstGeom>
          <a:noFill/>
          <a:ln/>
        </p:spPr>
        <p:txBody>
          <a:bodyPr wrap="square" lIns="0" tIns="0" rIns="0" bIns="0" rtlCol="0" anchor="ctr"/>
          <a:lstStyle/>
          <a:p>
            <a:pPr algn="r" indent="0" marL="0">
              <a:buNone/>
            </a:pPr>
            <a:r>
              <a:rPr lang="en-US" sz="1400" b="1" dirty="0">
                <a:solidFill>
                  <a:srgbClr val="065A82"/>
                </a:solidFill>
                <a:latin typeface="Cambria" pitchFamily="34" charset="0"/>
                <a:ea typeface="Cambria" pitchFamily="34" charset="-122"/>
                <a:cs typeface="Cambria" pitchFamily="34" charset="-120"/>
              </a:rPr>
              <a:t>3 sem.</a:t>
            </a:r>
            <a:endParaRPr lang="en-US" sz="1400" dirty="0"/>
          </a:p>
        </p:txBody>
      </p:sp>
      <p:sp>
        <p:nvSpPr>
          <p:cNvPr id="16" name="Shape 14"/>
          <p:cNvSpPr/>
          <p:nvPr/>
        </p:nvSpPr>
        <p:spPr>
          <a:xfrm>
            <a:off x="502920" y="2706624"/>
            <a:ext cx="8138160" cy="658368"/>
          </a:xfrm>
          <a:prstGeom prst="roundRect">
            <a:avLst>
              <a:gd name="adj" fmla="val 8333"/>
            </a:avLst>
          </a:prstGeom>
          <a:solidFill>
            <a:srgbClr val="F4F6F9"/>
          </a:solidFill>
          <a:ln w="12700">
            <a:solidFill>
              <a:srgbClr val="F4F6F9"/>
            </a:solidFill>
            <a:prstDash val="solid"/>
          </a:ln>
        </p:spPr>
      </p:sp>
      <p:sp>
        <p:nvSpPr>
          <p:cNvPr id="17" name="Shape 15"/>
          <p:cNvSpPr/>
          <p:nvPr/>
        </p:nvSpPr>
        <p:spPr>
          <a:xfrm>
            <a:off x="667512" y="2862072"/>
            <a:ext cx="658368" cy="347472"/>
          </a:xfrm>
          <a:prstGeom prst="roundRect">
            <a:avLst>
              <a:gd name="adj" fmla="val 13158"/>
            </a:avLst>
          </a:prstGeom>
          <a:solidFill>
            <a:srgbClr val="E8A33D"/>
          </a:solidFill>
          <a:ln w="12700">
            <a:solidFill>
              <a:srgbClr val="333333"/>
            </a:solidFill>
            <a:prstDash val="solid"/>
          </a:ln>
        </p:spPr>
      </p:sp>
      <p:sp>
        <p:nvSpPr>
          <p:cNvPr id="18" name="Text 16"/>
          <p:cNvSpPr/>
          <p:nvPr/>
        </p:nvSpPr>
        <p:spPr>
          <a:xfrm>
            <a:off x="667512" y="2862072"/>
            <a:ext cx="658368"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WP3</a:t>
            </a:r>
            <a:endParaRPr lang="en-US" sz="1200" dirty="0"/>
          </a:p>
        </p:txBody>
      </p:sp>
      <p:sp>
        <p:nvSpPr>
          <p:cNvPr id="19" name="Text 17"/>
          <p:cNvSpPr/>
          <p:nvPr/>
        </p:nvSpPr>
        <p:spPr>
          <a:xfrm>
            <a:off x="1463040" y="2788920"/>
            <a:ext cx="3840480" cy="27432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Attaque hard-label par courbure</a:t>
            </a:r>
            <a:endParaRPr lang="en-US" sz="1300" dirty="0"/>
          </a:p>
        </p:txBody>
      </p:sp>
      <p:sp>
        <p:nvSpPr>
          <p:cNvPr id="20" name="Text 18"/>
          <p:cNvSpPr/>
          <p:nvPr/>
        </p:nvSpPr>
        <p:spPr>
          <a:xfrm>
            <a:off x="1463040" y="3054096"/>
            <a:ext cx="5120640" cy="256032"/>
          </a:xfrm>
          <a:prstGeom prst="rect">
            <a:avLst/>
          </a:prstGeom>
          <a:noFill/>
          <a:ln/>
        </p:spPr>
        <p:txBody>
          <a:bodyPr wrap="square" lIns="0" tIns="0" rIns="0" bIns="0" rtlCol="0" anchor="ctr"/>
          <a:lstStyle/>
          <a:p>
            <a:pPr indent="0" marL="0">
              <a:buNone/>
            </a:pPr>
            <a:r>
              <a:rPr lang="en-US" sz="1050" dirty="0">
                <a:solidFill>
                  <a:srgbClr val="5A6478"/>
                </a:solidFill>
                <a:latin typeface="Calibri" pitchFamily="34" charset="0"/>
                <a:ea typeface="Calibri" pitchFamily="34" charset="-122"/>
                <a:cs typeface="Calibri" pitchFamily="34" charset="-120"/>
              </a:rPr>
              <a:t>Contribution principale — article 1</a:t>
            </a:r>
            <a:endParaRPr lang="en-US" sz="1050" dirty="0"/>
          </a:p>
        </p:txBody>
      </p:sp>
      <p:sp>
        <p:nvSpPr>
          <p:cNvPr id="21" name="Text 19"/>
          <p:cNvSpPr/>
          <p:nvPr/>
        </p:nvSpPr>
        <p:spPr>
          <a:xfrm>
            <a:off x="7269480" y="2889504"/>
            <a:ext cx="1188720" cy="292608"/>
          </a:xfrm>
          <a:prstGeom prst="rect">
            <a:avLst/>
          </a:prstGeom>
          <a:noFill/>
          <a:ln/>
        </p:spPr>
        <p:txBody>
          <a:bodyPr wrap="square" lIns="0" tIns="0" rIns="0" bIns="0" rtlCol="0" anchor="ctr"/>
          <a:lstStyle/>
          <a:p>
            <a:pPr algn="r" indent="0" marL="0">
              <a:buNone/>
            </a:pPr>
            <a:r>
              <a:rPr lang="en-US" sz="1400" b="1" dirty="0">
                <a:solidFill>
                  <a:srgbClr val="E8A33D"/>
                </a:solidFill>
                <a:latin typeface="Cambria" pitchFamily="34" charset="0"/>
                <a:ea typeface="Cambria" pitchFamily="34" charset="-122"/>
                <a:cs typeface="Cambria" pitchFamily="34" charset="-120"/>
              </a:rPr>
              <a:t>8-10 sem.</a:t>
            </a:r>
            <a:endParaRPr lang="en-US" sz="1400" dirty="0"/>
          </a:p>
        </p:txBody>
      </p:sp>
      <p:sp>
        <p:nvSpPr>
          <p:cNvPr id="22" name="Shape 20"/>
          <p:cNvSpPr/>
          <p:nvPr/>
        </p:nvSpPr>
        <p:spPr>
          <a:xfrm>
            <a:off x="502920" y="3465576"/>
            <a:ext cx="8138160" cy="658368"/>
          </a:xfrm>
          <a:prstGeom prst="roundRect">
            <a:avLst>
              <a:gd name="adj" fmla="val 8333"/>
            </a:avLst>
          </a:prstGeom>
          <a:solidFill>
            <a:srgbClr val="F4F6F9"/>
          </a:solidFill>
          <a:ln w="12700">
            <a:solidFill>
              <a:srgbClr val="F4F6F9"/>
            </a:solidFill>
            <a:prstDash val="solid"/>
          </a:ln>
        </p:spPr>
      </p:sp>
      <p:sp>
        <p:nvSpPr>
          <p:cNvPr id="23" name="Shape 21"/>
          <p:cNvSpPr/>
          <p:nvPr/>
        </p:nvSpPr>
        <p:spPr>
          <a:xfrm>
            <a:off x="667512" y="3621024"/>
            <a:ext cx="658368" cy="347472"/>
          </a:xfrm>
          <a:prstGeom prst="roundRect">
            <a:avLst>
              <a:gd name="adj" fmla="val 13158"/>
            </a:avLst>
          </a:prstGeom>
          <a:solidFill>
            <a:srgbClr val="1C7293"/>
          </a:solidFill>
          <a:ln w="12700">
            <a:solidFill>
              <a:srgbClr val="333333"/>
            </a:solidFill>
            <a:prstDash val="solid"/>
          </a:ln>
        </p:spPr>
      </p:sp>
      <p:sp>
        <p:nvSpPr>
          <p:cNvPr id="24" name="Text 22"/>
          <p:cNvSpPr/>
          <p:nvPr/>
        </p:nvSpPr>
        <p:spPr>
          <a:xfrm>
            <a:off x="667512" y="3621024"/>
            <a:ext cx="658368"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WP4</a:t>
            </a:r>
            <a:endParaRPr lang="en-US" sz="1200" dirty="0"/>
          </a:p>
        </p:txBody>
      </p:sp>
      <p:sp>
        <p:nvSpPr>
          <p:cNvPr id="25" name="Text 23"/>
          <p:cNvSpPr/>
          <p:nvPr/>
        </p:nvSpPr>
        <p:spPr>
          <a:xfrm>
            <a:off x="1463040" y="3547872"/>
            <a:ext cx="3840480" cy="27432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Défense : étude exploratoire</a:t>
            </a:r>
            <a:endParaRPr lang="en-US" sz="1300" dirty="0"/>
          </a:p>
        </p:txBody>
      </p:sp>
      <p:sp>
        <p:nvSpPr>
          <p:cNvPr id="26" name="Text 24"/>
          <p:cNvSpPr/>
          <p:nvPr/>
        </p:nvSpPr>
        <p:spPr>
          <a:xfrm>
            <a:off x="1463040" y="3813048"/>
            <a:ext cx="5120640" cy="256032"/>
          </a:xfrm>
          <a:prstGeom prst="rect">
            <a:avLst/>
          </a:prstGeom>
          <a:noFill/>
          <a:ln/>
        </p:spPr>
        <p:txBody>
          <a:bodyPr wrap="square" lIns="0" tIns="0" rIns="0" bIns="0" rtlCol="0" anchor="ctr"/>
          <a:lstStyle/>
          <a:p>
            <a:pPr indent="0" marL="0">
              <a:buNone/>
            </a:pPr>
            <a:r>
              <a:rPr lang="en-US" sz="1050" dirty="0">
                <a:solidFill>
                  <a:srgbClr val="5A6478"/>
                </a:solidFill>
                <a:latin typeface="Calibri" pitchFamily="34" charset="0"/>
                <a:ea typeface="Calibri" pitchFamily="34" charset="-122"/>
                <a:cs typeface="Calibri" pitchFamily="34" charset="-120"/>
              </a:rPr>
              <a:t>Courbe de fragilité et coût en utilité</a:t>
            </a:r>
            <a:endParaRPr lang="en-US" sz="1050" dirty="0"/>
          </a:p>
        </p:txBody>
      </p:sp>
      <p:sp>
        <p:nvSpPr>
          <p:cNvPr id="27" name="Text 25"/>
          <p:cNvSpPr/>
          <p:nvPr/>
        </p:nvSpPr>
        <p:spPr>
          <a:xfrm>
            <a:off x="7269480" y="3648456"/>
            <a:ext cx="1188720" cy="292608"/>
          </a:xfrm>
          <a:prstGeom prst="rect">
            <a:avLst/>
          </a:prstGeom>
          <a:noFill/>
          <a:ln/>
        </p:spPr>
        <p:txBody>
          <a:bodyPr wrap="square" lIns="0" tIns="0" rIns="0" bIns="0" rtlCol="0" anchor="ctr"/>
          <a:lstStyle/>
          <a:p>
            <a:pPr algn="r" indent="0" marL="0">
              <a:buNone/>
            </a:pPr>
            <a:r>
              <a:rPr lang="en-US" sz="1400" b="1" dirty="0">
                <a:solidFill>
                  <a:srgbClr val="1C7293"/>
                </a:solidFill>
                <a:latin typeface="Cambria" pitchFamily="34" charset="0"/>
                <a:ea typeface="Cambria" pitchFamily="34" charset="-122"/>
                <a:cs typeface="Cambria" pitchFamily="34" charset="-120"/>
              </a:rPr>
              <a:t>4 sem.</a:t>
            </a:r>
            <a:endParaRPr lang="en-US" sz="1400" dirty="0"/>
          </a:p>
        </p:txBody>
      </p:sp>
      <p:sp>
        <p:nvSpPr>
          <p:cNvPr id="28" name="Shape 26"/>
          <p:cNvSpPr/>
          <p:nvPr/>
        </p:nvSpPr>
        <p:spPr>
          <a:xfrm>
            <a:off x="502920" y="4279392"/>
            <a:ext cx="8138160" cy="475488"/>
          </a:xfrm>
          <a:prstGeom prst="roundRect">
            <a:avLst>
              <a:gd name="adj" fmla="val 11538"/>
            </a:avLst>
          </a:prstGeom>
          <a:solidFill>
            <a:srgbClr val="E6F2F2"/>
          </a:solidFill>
          <a:ln w="12700">
            <a:solidFill>
              <a:srgbClr val="E6F2F2"/>
            </a:solidFill>
            <a:prstDash val="solid"/>
          </a:ln>
        </p:spPr>
      </p:sp>
      <p:sp>
        <p:nvSpPr>
          <p:cNvPr id="29" name="Text 27"/>
          <p:cNvSpPr/>
          <p:nvPr/>
        </p:nvSpPr>
        <p:spPr>
          <a:xfrm>
            <a:off x="722376" y="4352544"/>
            <a:ext cx="7726680" cy="329184"/>
          </a:xfrm>
          <a:prstGeom prst="rect">
            <a:avLst/>
          </a:prstGeom>
          <a:noFill/>
          <a:ln/>
        </p:spPr>
        <p:txBody>
          <a:bodyPr wrap="square" lIns="0" tIns="0" rIns="0" bIns="0" rtlCol="0" anchor="ctr"/>
          <a:lstStyle/>
          <a:p>
            <a:pPr indent="0" marL="0">
              <a:buNone/>
            </a:pPr>
            <a:r>
              <a:rPr lang="en-US" sz="1150" b="1" dirty="0">
                <a:solidFill>
                  <a:srgbClr val="1C7293"/>
                </a:solidFill>
                <a:latin typeface="Calibri" pitchFamily="34" charset="0"/>
                <a:ea typeface="Calibri" pitchFamily="34" charset="-122"/>
                <a:cs typeface="Calibri" pitchFamily="34" charset="-120"/>
              </a:rPr>
              <a:t>Jalon d'orientation à 2 mois : tracé de la frontière de décision d'un réseau 2D pour ReLU, GELU, SiLU et tanh. Une semaine de travail décide de la suite du WP3.</a:t>
            </a:r>
            <a:endParaRPr lang="en-US" sz="1150" dirty="0"/>
          </a:p>
        </p:txBody>
      </p:sp>
      <p:sp>
        <p:nvSpPr>
          <p:cNvPr id="30" name="Text 28"/>
          <p:cNvSpPr/>
          <p:nvPr/>
        </p:nvSpPr>
        <p:spPr>
          <a:xfrm>
            <a:off x="502920" y="4759452"/>
            <a:ext cx="4572000" cy="228600"/>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T. Diallo — Bilan S1 — EPT / EDPT</a:t>
            </a:r>
            <a:endParaRPr lang="en-US" sz="900" dirty="0"/>
          </a:p>
        </p:txBody>
      </p:sp>
      <p:sp>
        <p:nvSpPr>
          <p:cNvPr id="31" name="Text 29"/>
          <p:cNvSpPr/>
          <p:nvPr/>
        </p:nvSpPr>
        <p:spPr>
          <a:xfrm>
            <a:off x="8183880" y="4759452"/>
            <a:ext cx="457200" cy="228600"/>
          </a:xfrm>
          <a:prstGeom prst="rect">
            <a:avLst/>
          </a:prstGeom>
          <a:noFill/>
          <a:ln/>
        </p:spPr>
        <p:txBody>
          <a:bodyPr wrap="square" lIns="0" tIns="0" rIns="0" bIns="0" rtlCol="0" anchor="ctr"/>
          <a:lstStyle/>
          <a:p>
            <a:pPr algn="r" indent="0" marL="0">
              <a:buNone/>
            </a:pPr>
            <a:r>
              <a:rPr lang="en-US" sz="900" dirty="0">
                <a:solidFill>
                  <a:srgbClr val="5A6478"/>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138160" cy="219456"/>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CONDITIONS DE RÉUSSITE</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Risques identifiés et besoins</a:t>
            </a:r>
            <a:endParaRPr lang="en-US" sz="3000" dirty="0"/>
          </a:p>
        </p:txBody>
      </p:sp>
      <p:sp>
        <p:nvSpPr>
          <p:cNvPr id="4" name="Text 2"/>
          <p:cNvSpPr/>
          <p:nvPr/>
        </p:nvSpPr>
        <p:spPr>
          <a:xfrm>
            <a:off x="502920" y="1152144"/>
            <a:ext cx="3840480" cy="274320"/>
          </a:xfrm>
          <a:prstGeom prst="rect">
            <a:avLst/>
          </a:prstGeom>
          <a:noFill/>
          <a:ln/>
        </p:spPr>
        <p:txBody>
          <a:bodyPr wrap="square" lIns="0" tIns="0" rIns="0" bIns="0" rtlCol="0" anchor="ctr"/>
          <a:lstStyle/>
          <a:p>
            <a:pPr indent="0" marL="0">
              <a:buNone/>
            </a:pPr>
            <a:r>
              <a:rPr lang="en-US" sz="1100" b="1" spc="100" kern="0" dirty="0">
                <a:solidFill>
                  <a:srgbClr val="E8A33D"/>
                </a:solidFill>
                <a:latin typeface="Calibri" pitchFamily="34" charset="0"/>
                <a:ea typeface="Calibri" pitchFamily="34" charset="-122"/>
                <a:cs typeface="Calibri" pitchFamily="34" charset="-120"/>
              </a:rPr>
              <a:t>Risques principaux</a:t>
            </a:r>
            <a:endParaRPr lang="en-US" sz="1100" dirty="0"/>
          </a:p>
        </p:txBody>
      </p:sp>
      <p:sp>
        <p:nvSpPr>
          <p:cNvPr id="5" name="Shape 3"/>
          <p:cNvSpPr/>
          <p:nvPr/>
        </p:nvSpPr>
        <p:spPr>
          <a:xfrm>
            <a:off x="502920" y="1463040"/>
            <a:ext cx="3886200" cy="640080"/>
          </a:xfrm>
          <a:prstGeom prst="roundRect">
            <a:avLst>
              <a:gd name="adj" fmla="val 8571"/>
            </a:avLst>
          </a:prstGeom>
          <a:solidFill>
            <a:srgbClr val="F4F6F9"/>
          </a:solidFill>
          <a:ln w="12700">
            <a:solidFill>
              <a:srgbClr val="F4F6F9"/>
            </a:solidFill>
            <a:prstDash val="solid"/>
          </a:ln>
        </p:spPr>
      </p:sp>
      <p:sp>
        <p:nvSpPr>
          <p:cNvPr id="6" name="Text 4"/>
          <p:cNvSpPr/>
          <p:nvPr/>
        </p:nvSpPr>
        <p:spPr>
          <a:xfrm>
            <a:off x="667512" y="1517904"/>
            <a:ext cx="3566160" cy="237744"/>
          </a:xfrm>
          <a:prstGeom prst="rect">
            <a:avLst/>
          </a:prstGeom>
          <a:noFill/>
          <a:ln/>
        </p:spPr>
        <p:txBody>
          <a:bodyPr wrap="square" lIns="0" tIns="0" rIns="0" bIns="0" rtlCol="0" anchor="ctr"/>
          <a:lstStyle/>
          <a:p>
            <a:pPr indent="0" marL="0">
              <a:buNone/>
            </a:pPr>
            <a:r>
              <a:rPr lang="en-US" sz="1200" b="1" dirty="0">
                <a:solidFill>
                  <a:srgbClr val="21295C"/>
                </a:solidFill>
                <a:latin typeface="Calibri" pitchFamily="34" charset="0"/>
                <a:ea typeface="Calibri" pitchFamily="34" charset="-122"/>
                <a:cs typeface="Calibri" pitchFamily="34" charset="-120"/>
              </a:rPr>
              <a:t>Concurrence</a:t>
            </a:r>
            <a:endParaRPr lang="en-US" sz="1200" dirty="0"/>
          </a:p>
        </p:txBody>
      </p:sp>
      <p:sp>
        <p:nvSpPr>
          <p:cNvPr id="7" name="Text 5"/>
          <p:cNvSpPr/>
          <p:nvPr/>
        </p:nvSpPr>
        <p:spPr>
          <a:xfrm>
            <a:off x="667512" y="1755648"/>
            <a:ext cx="3566160" cy="310896"/>
          </a:xfrm>
          <a:prstGeom prst="rect">
            <a:avLst/>
          </a:prstGeom>
          <a:noFill/>
          <a:ln/>
        </p:spPr>
        <p:txBody>
          <a:bodyPr wrap="square" lIns="0" tIns="0" rIns="0" bIns="0" rtlCol="0" anchor="ctr"/>
          <a:lstStyle/>
          <a:p>
            <a:pPr indent="0" marL="0">
              <a:lnSpc>
                <a:spcPts val="1300"/>
              </a:lnSpc>
              <a:buNone/>
            </a:pPr>
            <a:r>
              <a:rPr lang="en-US" sz="1050" dirty="0">
                <a:solidFill>
                  <a:srgbClr val="1B2233"/>
                </a:solidFill>
                <a:latin typeface="Calibri" pitchFamily="34" charset="0"/>
                <a:ea typeface="Calibri" pitchFamily="34" charset="-122"/>
                <a:cs typeface="Calibri" pitchFamily="34" charset="-120"/>
              </a:rPr>
              <a:t>Publier sur ePrint dès qu'un résultat tient, sans attendre la conférence</a:t>
            </a:r>
            <a:endParaRPr lang="en-US" sz="1050" dirty="0"/>
          </a:p>
        </p:txBody>
      </p:sp>
      <p:sp>
        <p:nvSpPr>
          <p:cNvPr id="8" name="Shape 6"/>
          <p:cNvSpPr/>
          <p:nvPr/>
        </p:nvSpPr>
        <p:spPr>
          <a:xfrm>
            <a:off x="502920" y="2212848"/>
            <a:ext cx="3886200" cy="640080"/>
          </a:xfrm>
          <a:prstGeom prst="roundRect">
            <a:avLst>
              <a:gd name="adj" fmla="val 8571"/>
            </a:avLst>
          </a:prstGeom>
          <a:solidFill>
            <a:srgbClr val="F4F6F9"/>
          </a:solidFill>
          <a:ln w="12700">
            <a:solidFill>
              <a:srgbClr val="F4F6F9"/>
            </a:solidFill>
            <a:prstDash val="solid"/>
          </a:ln>
        </p:spPr>
      </p:sp>
      <p:sp>
        <p:nvSpPr>
          <p:cNvPr id="9" name="Text 7"/>
          <p:cNvSpPr/>
          <p:nvPr/>
        </p:nvSpPr>
        <p:spPr>
          <a:xfrm>
            <a:off x="667512" y="2267712"/>
            <a:ext cx="3566160" cy="237744"/>
          </a:xfrm>
          <a:prstGeom prst="rect">
            <a:avLst/>
          </a:prstGeom>
          <a:noFill/>
          <a:ln/>
        </p:spPr>
        <p:txBody>
          <a:bodyPr wrap="square" lIns="0" tIns="0" rIns="0" bIns="0" rtlCol="0" anchor="ctr"/>
          <a:lstStyle/>
          <a:p>
            <a:pPr indent="0" marL="0">
              <a:buNone/>
            </a:pPr>
            <a:r>
              <a:rPr lang="en-US" sz="1200" b="1" dirty="0">
                <a:solidFill>
                  <a:srgbClr val="21295C"/>
                </a:solidFill>
                <a:latin typeface="Calibri" pitchFamily="34" charset="0"/>
                <a:ea typeface="Calibri" pitchFamily="34" charset="-122"/>
                <a:cs typeface="Calibri" pitchFamily="34" charset="-120"/>
              </a:rPr>
              <a:t>Reproduction du code</a:t>
            </a:r>
            <a:endParaRPr lang="en-US" sz="1200" dirty="0"/>
          </a:p>
        </p:txBody>
      </p:sp>
      <p:sp>
        <p:nvSpPr>
          <p:cNvPr id="10" name="Text 8"/>
          <p:cNvSpPr/>
          <p:nvPr/>
        </p:nvSpPr>
        <p:spPr>
          <a:xfrm>
            <a:off x="667512" y="2505456"/>
            <a:ext cx="3566160" cy="310896"/>
          </a:xfrm>
          <a:prstGeom prst="rect">
            <a:avLst/>
          </a:prstGeom>
          <a:noFill/>
          <a:ln/>
        </p:spPr>
        <p:txBody>
          <a:bodyPr wrap="square" lIns="0" tIns="0" rIns="0" bIns="0" rtlCol="0" anchor="ctr"/>
          <a:lstStyle/>
          <a:p>
            <a:pPr indent="0" marL="0">
              <a:lnSpc>
                <a:spcPts val="1300"/>
              </a:lnSpc>
              <a:buNone/>
            </a:pPr>
            <a:r>
              <a:rPr lang="en-US" sz="1050" dirty="0">
                <a:solidFill>
                  <a:srgbClr val="1B2233"/>
                </a:solidFill>
                <a:latin typeface="Calibri" pitchFamily="34" charset="0"/>
                <a:ea typeface="Calibri" pitchFamily="34" charset="-122"/>
                <a:cs typeface="Calibri" pitchFamily="34" charset="-120"/>
              </a:rPr>
              <a:t>Budgéter 2 mois pleins : ce sont des prototypes de recherche</a:t>
            </a:r>
            <a:endParaRPr lang="en-US" sz="1050" dirty="0"/>
          </a:p>
        </p:txBody>
      </p:sp>
      <p:sp>
        <p:nvSpPr>
          <p:cNvPr id="11" name="Shape 9"/>
          <p:cNvSpPr/>
          <p:nvPr/>
        </p:nvSpPr>
        <p:spPr>
          <a:xfrm>
            <a:off x="502920" y="2962656"/>
            <a:ext cx="3886200" cy="640080"/>
          </a:xfrm>
          <a:prstGeom prst="roundRect">
            <a:avLst>
              <a:gd name="adj" fmla="val 8571"/>
            </a:avLst>
          </a:prstGeom>
          <a:solidFill>
            <a:srgbClr val="F4F6F9"/>
          </a:solidFill>
          <a:ln w="12700">
            <a:solidFill>
              <a:srgbClr val="F4F6F9"/>
            </a:solidFill>
            <a:prstDash val="solid"/>
          </a:ln>
        </p:spPr>
      </p:sp>
      <p:sp>
        <p:nvSpPr>
          <p:cNvPr id="12" name="Text 10"/>
          <p:cNvSpPr/>
          <p:nvPr/>
        </p:nvSpPr>
        <p:spPr>
          <a:xfrm>
            <a:off x="667512" y="3017520"/>
            <a:ext cx="3566160" cy="237744"/>
          </a:xfrm>
          <a:prstGeom prst="rect">
            <a:avLst/>
          </a:prstGeom>
          <a:noFill/>
          <a:ln/>
        </p:spPr>
        <p:txBody>
          <a:bodyPr wrap="square" lIns="0" tIns="0" rIns="0" bIns="0" rtlCol="0" anchor="ctr"/>
          <a:lstStyle/>
          <a:p>
            <a:pPr indent="0" marL="0">
              <a:buNone/>
            </a:pPr>
            <a:r>
              <a:rPr lang="en-US" sz="1200" b="1" dirty="0">
                <a:solidFill>
                  <a:srgbClr val="21295C"/>
                </a:solidFill>
                <a:latin typeface="Calibri" pitchFamily="34" charset="0"/>
                <a:ea typeface="Calibri" pitchFamily="34" charset="-122"/>
                <a:cs typeface="Calibri" pitchFamily="34" charset="-120"/>
              </a:rPr>
              <a:t>Précision flottante</a:t>
            </a:r>
            <a:endParaRPr lang="en-US" sz="1200" dirty="0"/>
          </a:p>
        </p:txBody>
      </p:sp>
      <p:sp>
        <p:nvSpPr>
          <p:cNvPr id="13" name="Text 11"/>
          <p:cNvSpPr/>
          <p:nvPr/>
        </p:nvSpPr>
        <p:spPr>
          <a:xfrm>
            <a:off x="667512" y="3255264"/>
            <a:ext cx="3566160" cy="310896"/>
          </a:xfrm>
          <a:prstGeom prst="rect">
            <a:avLst/>
          </a:prstGeom>
          <a:noFill/>
          <a:ln/>
        </p:spPr>
        <p:txBody>
          <a:bodyPr wrap="square" lIns="0" tIns="0" rIns="0" bIns="0" rtlCol="0" anchor="ctr"/>
          <a:lstStyle/>
          <a:p>
            <a:pPr indent="0" marL="0">
              <a:lnSpc>
                <a:spcPts val="1300"/>
              </a:lnSpc>
              <a:buNone/>
            </a:pPr>
            <a:r>
              <a:rPr lang="en-US" sz="1050" dirty="0">
                <a:solidFill>
                  <a:srgbClr val="1B2233"/>
                </a:solidFill>
                <a:latin typeface="Calibri" pitchFamily="34" charset="0"/>
                <a:ea typeface="Calibri" pitchFamily="34" charset="-122"/>
                <a:cs typeface="Calibri" pitchFamily="34" charset="-120"/>
              </a:rPr>
              <a:t>Intégrer mpmath / gmpy2 dès le premier prototype</a:t>
            </a:r>
            <a:endParaRPr lang="en-US" sz="1050" dirty="0"/>
          </a:p>
        </p:txBody>
      </p:sp>
      <p:sp>
        <p:nvSpPr>
          <p:cNvPr id="14" name="Shape 12"/>
          <p:cNvSpPr/>
          <p:nvPr/>
        </p:nvSpPr>
        <p:spPr>
          <a:xfrm>
            <a:off x="502920" y="3712464"/>
            <a:ext cx="3886200" cy="640080"/>
          </a:xfrm>
          <a:prstGeom prst="roundRect">
            <a:avLst>
              <a:gd name="adj" fmla="val 8571"/>
            </a:avLst>
          </a:prstGeom>
          <a:solidFill>
            <a:srgbClr val="F4F6F9"/>
          </a:solidFill>
          <a:ln w="12700">
            <a:solidFill>
              <a:srgbClr val="F4F6F9"/>
            </a:solidFill>
            <a:prstDash val="solid"/>
          </a:ln>
        </p:spPr>
      </p:sp>
      <p:sp>
        <p:nvSpPr>
          <p:cNvPr id="15" name="Text 13"/>
          <p:cNvSpPr/>
          <p:nvPr/>
        </p:nvSpPr>
        <p:spPr>
          <a:xfrm>
            <a:off x="667512" y="3767328"/>
            <a:ext cx="3566160" cy="237744"/>
          </a:xfrm>
          <a:prstGeom prst="rect">
            <a:avLst/>
          </a:prstGeom>
          <a:noFill/>
          <a:ln/>
        </p:spPr>
        <p:txBody>
          <a:bodyPr wrap="square" lIns="0" tIns="0" rIns="0" bIns="0" rtlCol="0" anchor="ctr"/>
          <a:lstStyle/>
          <a:p>
            <a:pPr indent="0" marL="0">
              <a:buNone/>
            </a:pPr>
            <a:r>
              <a:rPr lang="en-US" sz="1200" b="1" dirty="0">
                <a:solidFill>
                  <a:srgbClr val="21295C"/>
                </a:solidFill>
                <a:latin typeface="Calibri" pitchFamily="34" charset="0"/>
                <a:ea typeface="Calibri" pitchFamily="34" charset="-122"/>
                <a:cs typeface="Calibri" pitchFamily="34" charset="-120"/>
              </a:rPr>
              <a:t>Échec de l'attaque lisse</a:t>
            </a:r>
            <a:endParaRPr lang="en-US" sz="1200" dirty="0"/>
          </a:p>
        </p:txBody>
      </p:sp>
      <p:sp>
        <p:nvSpPr>
          <p:cNvPr id="16" name="Text 14"/>
          <p:cNvSpPr/>
          <p:nvPr/>
        </p:nvSpPr>
        <p:spPr>
          <a:xfrm>
            <a:off x="667512" y="4005072"/>
            <a:ext cx="3566160" cy="310896"/>
          </a:xfrm>
          <a:prstGeom prst="rect">
            <a:avLst/>
          </a:prstGeom>
          <a:noFill/>
          <a:ln/>
        </p:spPr>
        <p:txBody>
          <a:bodyPr wrap="square" lIns="0" tIns="0" rIns="0" bIns="0" rtlCol="0" anchor="ctr"/>
          <a:lstStyle/>
          <a:p>
            <a:pPr indent="0" marL="0">
              <a:lnSpc>
                <a:spcPts val="1300"/>
              </a:lnSpc>
              <a:buNone/>
            </a:pPr>
            <a:r>
              <a:rPr lang="en-US" sz="1050" dirty="0">
                <a:solidFill>
                  <a:srgbClr val="1B2233"/>
                </a:solidFill>
                <a:latin typeface="Calibri" pitchFamily="34" charset="0"/>
                <a:ea typeface="Calibri" pitchFamily="34" charset="-122"/>
                <a:cs typeface="Calibri" pitchFamily="34" charset="-120"/>
              </a:rPr>
              <a:t>Prévu : le résultat négatif alimente le volet défense</a:t>
            </a:r>
            <a:endParaRPr lang="en-US" sz="1050" dirty="0"/>
          </a:p>
        </p:txBody>
      </p:sp>
      <p:sp>
        <p:nvSpPr>
          <p:cNvPr id="17" name="Text 15"/>
          <p:cNvSpPr/>
          <p:nvPr/>
        </p:nvSpPr>
        <p:spPr>
          <a:xfrm>
            <a:off x="4754880" y="1152144"/>
            <a:ext cx="3840480" cy="274320"/>
          </a:xfrm>
          <a:prstGeom prst="rect">
            <a:avLst/>
          </a:prstGeom>
          <a:noFill/>
          <a:ln/>
        </p:spPr>
        <p:txBody>
          <a:bodyPr wrap="square" lIns="0" tIns="0" rIns="0" bIns="0" rtlCol="0" anchor="ctr"/>
          <a:lstStyle/>
          <a:p>
            <a:pPr indent="0" marL="0">
              <a:buNone/>
            </a:pPr>
            <a:r>
              <a:rPr lang="en-US" sz="1100" b="1" spc="100" kern="0" dirty="0">
                <a:solidFill>
                  <a:srgbClr val="1C7293"/>
                </a:solidFill>
                <a:latin typeface="Calibri" pitchFamily="34" charset="0"/>
                <a:ea typeface="Calibri" pitchFamily="34" charset="-122"/>
                <a:cs typeface="Calibri" pitchFamily="34" charset="-120"/>
              </a:rPr>
              <a:t>Besoins</a:t>
            </a:r>
            <a:endParaRPr lang="en-US" sz="1100" dirty="0"/>
          </a:p>
        </p:txBody>
      </p:sp>
      <p:sp>
        <p:nvSpPr>
          <p:cNvPr id="18" name="Shape 16"/>
          <p:cNvSpPr/>
          <p:nvPr/>
        </p:nvSpPr>
        <p:spPr>
          <a:xfrm>
            <a:off x="4754880" y="1463040"/>
            <a:ext cx="3886200" cy="640080"/>
          </a:xfrm>
          <a:prstGeom prst="roundRect">
            <a:avLst>
              <a:gd name="adj" fmla="val 8571"/>
            </a:avLst>
          </a:prstGeom>
          <a:solidFill>
            <a:srgbClr val="E6F2F2"/>
          </a:solidFill>
          <a:ln w="12700">
            <a:solidFill>
              <a:srgbClr val="E6F2F2"/>
            </a:solidFill>
            <a:prstDash val="solid"/>
          </a:ln>
        </p:spPr>
      </p:sp>
      <p:sp>
        <p:nvSpPr>
          <p:cNvPr id="19" name="Text 17"/>
          <p:cNvSpPr/>
          <p:nvPr/>
        </p:nvSpPr>
        <p:spPr>
          <a:xfrm>
            <a:off x="4919472" y="1517904"/>
            <a:ext cx="3566160" cy="237744"/>
          </a:xfrm>
          <a:prstGeom prst="rect">
            <a:avLst/>
          </a:prstGeom>
          <a:noFill/>
          <a:ln/>
        </p:spPr>
        <p:txBody>
          <a:bodyPr wrap="square" lIns="0" tIns="0" rIns="0" bIns="0" rtlCol="0" anchor="ctr"/>
          <a:lstStyle/>
          <a:p>
            <a:pPr indent="0" marL="0">
              <a:buNone/>
            </a:pPr>
            <a:r>
              <a:rPr lang="en-US" sz="1200" b="1" dirty="0">
                <a:solidFill>
                  <a:srgbClr val="21295C"/>
                </a:solidFill>
                <a:latin typeface="Calibri" pitchFamily="34" charset="0"/>
                <a:ea typeface="Calibri" pitchFamily="34" charset="-122"/>
                <a:cs typeface="Calibri" pitchFamily="34" charset="-120"/>
              </a:rPr>
              <a:t>Calcul multi-cœurs</a:t>
            </a:r>
            <a:endParaRPr lang="en-US" sz="1200" dirty="0"/>
          </a:p>
        </p:txBody>
      </p:sp>
      <p:sp>
        <p:nvSpPr>
          <p:cNvPr id="20" name="Text 18"/>
          <p:cNvSpPr/>
          <p:nvPr/>
        </p:nvSpPr>
        <p:spPr>
          <a:xfrm>
            <a:off x="4919472" y="1755648"/>
            <a:ext cx="3566160" cy="310896"/>
          </a:xfrm>
          <a:prstGeom prst="rect">
            <a:avLst/>
          </a:prstGeom>
          <a:noFill/>
          <a:ln/>
        </p:spPr>
        <p:txBody>
          <a:bodyPr wrap="square" lIns="0" tIns="0" rIns="0" bIns="0" rtlCol="0" anchor="ctr"/>
          <a:lstStyle/>
          <a:p>
            <a:pPr indent="0" marL="0">
              <a:lnSpc>
                <a:spcPts val="1300"/>
              </a:lnSpc>
              <a:buNone/>
            </a:pPr>
            <a:r>
              <a:rPr lang="en-US" sz="1050" dirty="0">
                <a:solidFill>
                  <a:srgbClr val="1B2233"/>
                </a:solidFill>
                <a:latin typeface="Calibri" pitchFamily="34" charset="0"/>
                <a:ea typeface="Calibri" pitchFamily="34" charset="-122"/>
                <a:cs typeface="Calibri" pitchFamily="34" charset="-120"/>
              </a:rPr>
              <a:t>Une expérience de 13 h non parallélisée devient 2 h sur 8 cœurs</a:t>
            </a:r>
            <a:endParaRPr lang="en-US" sz="1050" dirty="0"/>
          </a:p>
        </p:txBody>
      </p:sp>
      <p:sp>
        <p:nvSpPr>
          <p:cNvPr id="21" name="Shape 19"/>
          <p:cNvSpPr/>
          <p:nvPr/>
        </p:nvSpPr>
        <p:spPr>
          <a:xfrm>
            <a:off x="4754880" y="2212848"/>
            <a:ext cx="3886200" cy="640080"/>
          </a:xfrm>
          <a:prstGeom prst="roundRect">
            <a:avLst>
              <a:gd name="adj" fmla="val 8571"/>
            </a:avLst>
          </a:prstGeom>
          <a:solidFill>
            <a:srgbClr val="E6F2F2"/>
          </a:solidFill>
          <a:ln w="12700">
            <a:solidFill>
              <a:srgbClr val="E6F2F2"/>
            </a:solidFill>
            <a:prstDash val="solid"/>
          </a:ln>
        </p:spPr>
      </p:sp>
      <p:sp>
        <p:nvSpPr>
          <p:cNvPr id="22" name="Text 20"/>
          <p:cNvSpPr/>
          <p:nvPr/>
        </p:nvSpPr>
        <p:spPr>
          <a:xfrm>
            <a:off x="4919472" y="2267712"/>
            <a:ext cx="3566160" cy="237744"/>
          </a:xfrm>
          <a:prstGeom prst="rect">
            <a:avLst/>
          </a:prstGeom>
          <a:noFill/>
          <a:ln/>
        </p:spPr>
        <p:txBody>
          <a:bodyPr wrap="square" lIns="0" tIns="0" rIns="0" bIns="0" rtlCol="0" anchor="ctr"/>
          <a:lstStyle/>
          <a:p>
            <a:pPr indent="0" marL="0">
              <a:buNone/>
            </a:pPr>
            <a:r>
              <a:rPr lang="en-US" sz="1200" b="1" dirty="0">
                <a:solidFill>
                  <a:srgbClr val="21295C"/>
                </a:solidFill>
                <a:latin typeface="Calibri" pitchFamily="34" charset="0"/>
                <a:ea typeface="Calibri" pitchFamily="34" charset="-122"/>
                <a:cs typeface="Calibri" pitchFamily="34" charset="-120"/>
              </a:rPr>
              <a:t>Accès Springer LNCS</a:t>
            </a:r>
            <a:endParaRPr lang="en-US" sz="1200" dirty="0"/>
          </a:p>
        </p:txBody>
      </p:sp>
      <p:sp>
        <p:nvSpPr>
          <p:cNvPr id="23" name="Text 21"/>
          <p:cNvSpPr/>
          <p:nvPr/>
        </p:nvSpPr>
        <p:spPr>
          <a:xfrm>
            <a:off x="4919472" y="2505456"/>
            <a:ext cx="3566160" cy="310896"/>
          </a:xfrm>
          <a:prstGeom prst="rect">
            <a:avLst/>
          </a:prstGeom>
          <a:noFill/>
          <a:ln/>
        </p:spPr>
        <p:txBody>
          <a:bodyPr wrap="square" lIns="0" tIns="0" rIns="0" bIns="0" rtlCol="0" anchor="ctr"/>
          <a:lstStyle/>
          <a:p>
            <a:pPr indent="0" marL="0">
              <a:lnSpc>
                <a:spcPts val="1300"/>
              </a:lnSpc>
              <a:buNone/>
            </a:pPr>
            <a:r>
              <a:rPr lang="en-US" sz="1050" dirty="0">
                <a:solidFill>
                  <a:srgbClr val="1B2233"/>
                </a:solidFill>
                <a:latin typeface="Calibri" pitchFamily="34" charset="0"/>
                <a:ea typeface="Calibri" pitchFamily="34" charset="-122"/>
                <a:cs typeface="Calibri" pitchFamily="34" charset="-120"/>
              </a:rPr>
              <a:t>EUROCRYPT, CRYPTO, ASIACRYPT — ou versions ePrint</a:t>
            </a:r>
            <a:endParaRPr lang="en-US" sz="1050" dirty="0"/>
          </a:p>
        </p:txBody>
      </p:sp>
      <p:sp>
        <p:nvSpPr>
          <p:cNvPr id="24" name="Shape 22"/>
          <p:cNvSpPr/>
          <p:nvPr/>
        </p:nvSpPr>
        <p:spPr>
          <a:xfrm>
            <a:off x="4754880" y="2962656"/>
            <a:ext cx="3886200" cy="640080"/>
          </a:xfrm>
          <a:prstGeom prst="roundRect">
            <a:avLst>
              <a:gd name="adj" fmla="val 8571"/>
            </a:avLst>
          </a:prstGeom>
          <a:solidFill>
            <a:srgbClr val="E6F2F2"/>
          </a:solidFill>
          <a:ln w="12700">
            <a:solidFill>
              <a:srgbClr val="E6F2F2"/>
            </a:solidFill>
            <a:prstDash val="solid"/>
          </a:ln>
        </p:spPr>
      </p:sp>
      <p:sp>
        <p:nvSpPr>
          <p:cNvPr id="25" name="Text 23"/>
          <p:cNvSpPr/>
          <p:nvPr/>
        </p:nvSpPr>
        <p:spPr>
          <a:xfrm>
            <a:off x="4919472" y="3017520"/>
            <a:ext cx="3566160" cy="237744"/>
          </a:xfrm>
          <a:prstGeom prst="rect">
            <a:avLst/>
          </a:prstGeom>
          <a:noFill/>
          <a:ln/>
        </p:spPr>
        <p:txBody>
          <a:bodyPr wrap="square" lIns="0" tIns="0" rIns="0" bIns="0" rtlCol="0" anchor="ctr"/>
          <a:lstStyle/>
          <a:p>
            <a:pPr indent="0" marL="0">
              <a:buNone/>
            </a:pPr>
            <a:r>
              <a:rPr lang="en-US" sz="1200" b="1" dirty="0">
                <a:solidFill>
                  <a:srgbClr val="21295C"/>
                </a:solidFill>
                <a:latin typeface="Calibri" pitchFamily="34" charset="0"/>
                <a:ea typeface="Calibri" pitchFamily="34" charset="-122"/>
                <a:cs typeface="Calibri" pitchFamily="34" charset="-120"/>
              </a:rPr>
              <a:t>Mission conférence</a:t>
            </a:r>
            <a:endParaRPr lang="en-US" sz="1200" dirty="0"/>
          </a:p>
        </p:txBody>
      </p:sp>
      <p:sp>
        <p:nvSpPr>
          <p:cNvPr id="26" name="Text 24"/>
          <p:cNvSpPr/>
          <p:nvPr/>
        </p:nvSpPr>
        <p:spPr>
          <a:xfrm>
            <a:off x="4919472" y="3255264"/>
            <a:ext cx="3566160" cy="310896"/>
          </a:xfrm>
          <a:prstGeom prst="rect">
            <a:avLst/>
          </a:prstGeom>
          <a:noFill/>
          <a:ln/>
        </p:spPr>
        <p:txBody>
          <a:bodyPr wrap="square" lIns="0" tIns="0" rIns="0" bIns="0" rtlCol="0" anchor="ctr"/>
          <a:lstStyle/>
          <a:p>
            <a:pPr indent="0" marL="0">
              <a:lnSpc>
                <a:spcPts val="1300"/>
              </a:lnSpc>
              <a:buNone/>
            </a:pPr>
            <a:r>
              <a:rPr lang="en-US" sz="1050" dirty="0">
                <a:solidFill>
                  <a:srgbClr val="1B2233"/>
                </a:solidFill>
                <a:latin typeface="Calibri" pitchFamily="34" charset="0"/>
                <a:ea typeface="Calibri" pitchFamily="34" charset="-122"/>
                <a:cs typeface="Calibri" pitchFamily="34" charset="-120"/>
              </a:rPr>
              <a:t>AfricaCrypt comme point d'entrée dès l'année 2</a:t>
            </a:r>
            <a:endParaRPr lang="en-US" sz="1050" dirty="0"/>
          </a:p>
        </p:txBody>
      </p:sp>
      <p:sp>
        <p:nvSpPr>
          <p:cNvPr id="27" name="Shape 25"/>
          <p:cNvSpPr/>
          <p:nvPr/>
        </p:nvSpPr>
        <p:spPr>
          <a:xfrm>
            <a:off x="4754880" y="3712464"/>
            <a:ext cx="3886200" cy="640080"/>
          </a:xfrm>
          <a:prstGeom prst="roundRect">
            <a:avLst>
              <a:gd name="adj" fmla="val 8571"/>
            </a:avLst>
          </a:prstGeom>
          <a:solidFill>
            <a:srgbClr val="E6F2F2"/>
          </a:solidFill>
          <a:ln w="12700">
            <a:solidFill>
              <a:srgbClr val="E6F2F2"/>
            </a:solidFill>
            <a:prstDash val="solid"/>
          </a:ln>
        </p:spPr>
      </p:sp>
      <p:sp>
        <p:nvSpPr>
          <p:cNvPr id="28" name="Text 26"/>
          <p:cNvSpPr/>
          <p:nvPr/>
        </p:nvSpPr>
        <p:spPr>
          <a:xfrm>
            <a:off x="4919472" y="3767328"/>
            <a:ext cx="3566160" cy="237744"/>
          </a:xfrm>
          <a:prstGeom prst="rect">
            <a:avLst/>
          </a:prstGeom>
          <a:noFill/>
          <a:ln/>
        </p:spPr>
        <p:txBody>
          <a:bodyPr wrap="square" lIns="0" tIns="0" rIns="0" bIns="0" rtlCol="0" anchor="ctr"/>
          <a:lstStyle/>
          <a:p>
            <a:pPr indent="0" marL="0">
              <a:buNone/>
            </a:pPr>
            <a:r>
              <a:rPr lang="en-US" sz="1200" b="1" dirty="0">
                <a:solidFill>
                  <a:srgbClr val="21295C"/>
                </a:solidFill>
                <a:latin typeface="Calibri" pitchFamily="34" charset="0"/>
                <a:ea typeface="Calibri" pitchFamily="34" charset="-122"/>
                <a:cs typeface="Calibri" pitchFamily="34" charset="-120"/>
              </a:rPr>
              <a:t>Mise en relation</a:t>
            </a:r>
            <a:endParaRPr lang="en-US" sz="1200" dirty="0"/>
          </a:p>
        </p:txBody>
      </p:sp>
      <p:sp>
        <p:nvSpPr>
          <p:cNvPr id="29" name="Text 27"/>
          <p:cNvSpPr/>
          <p:nvPr/>
        </p:nvSpPr>
        <p:spPr>
          <a:xfrm>
            <a:off x="4919472" y="4005072"/>
            <a:ext cx="3566160" cy="310896"/>
          </a:xfrm>
          <a:prstGeom prst="rect">
            <a:avLst/>
          </a:prstGeom>
          <a:noFill/>
          <a:ln/>
        </p:spPr>
        <p:txBody>
          <a:bodyPr wrap="square" lIns="0" tIns="0" rIns="0" bIns="0" rtlCol="0" anchor="ctr"/>
          <a:lstStyle/>
          <a:p>
            <a:pPr indent="0" marL="0">
              <a:lnSpc>
                <a:spcPts val="1300"/>
              </a:lnSpc>
              <a:buNone/>
            </a:pPr>
            <a:r>
              <a:rPr lang="en-US" sz="1050" dirty="0">
                <a:solidFill>
                  <a:srgbClr val="1B2233"/>
                </a:solidFill>
                <a:latin typeface="Calibri" pitchFamily="34" charset="0"/>
                <a:ea typeface="Calibri" pitchFamily="34" charset="-122"/>
                <a:cs typeface="Calibri" pitchFamily="34" charset="-120"/>
              </a:rPr>
              <a:t>Auteurs de l'article de départ : TII Abu Dhabi, Unicamp</a:t>
            </a:r>
            <a:endParaRPr lang="en-US" sz="1050" dirty="0"/>
          </a:p>
        </p:txBody>
      </p:sp>
      <p:sp>
        <p:nvSpPr>
          <p:cNvPr id="30" name="Text 28"/>
          <p:cNvSpPr/>
          <p:nvPr/>
        </p:nvSpPr>
        <p:spPr>
          <a:xfrm>
            <a:off x="502920" y="4759452"/>
            <a:ext cx="4572000" cy="228600"/>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T. Diallo — Bilan S1 — EPT / EDPT</a:t>
            </a:r>
            <a:endParaRPr lang="en-US" sz="900" dirty="0"/>
          </a:p>
        </p:txBody>
      </p:sp>
      <p:sp>
        <p:nvSpPr>
          <p:cNvPr id="31" name="Text 29"/>
          <p:cNvSpPr/>
          <p:nvPr/>
        </p:nvSpPr>
        <p:spPr>
          <a:xfrm>
            <a:off x="8183880" y="4759452"/>
            <a:ext cx="457200" cy="228600"/>
          </a:xfrm>
          <a:prstGeom prst="rect">
            <a:avLst/>
          </a:prstGeom>
          <a:noFill/>
          <a:ln/>
        </p:spPr>
        <p:txBody>
          <a:bodyPr wrap="square" lIns="0" tIns="0" rIns="0" bIns="0" rtlCol="0" anchor="ctr"/>
          <a:lstStyle/>
          <a:p>
            <a:pPr algn="r" indent="0" marL="0">
              <a:buNone/>
            </a:pPr>
            <a:r>
              <a:rPr lang="en-US" sz="900" dirty="0">
                <a:solidFill>
                  <a:srgbClr val="5A6478"/>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7223760" y="-914400"/>
            <a:ext cx="3474720" cy="3474720"/>
          </a:xfrm>
          <a:prstGeom prst="ellipse">
            <a:avLst/>
          </a:prstGeom>
          <a:solidFill>
            <a:srgbClr val="065A82"/>
          </a:solidFill>
          <a:ln w="12700">
            <a:solidFill>
              <a:srgbClr val="333333"/>
            </a:solidFill>
            <a:prstDash val="solid"/>
          </a:ln>
        </p:spPr>
      </p:sp>
      <p:sp>
        <p:nvSpPr>
          <p:cNvPr id="3" name="Text 1"/>
          <p:cNvSpPr/>
          <p:nvPr/>
        </p:nvSpPr>
        <p:spPr>
          <a:xfrm>
            <a:off x="502920" y="685800"/>
            <a:ext cx="813816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EN RÉSUMÉ</a:t>
            </a:r>
            <a:endParaRPr lang="en-US" sz="1200" dirty="0"/>
          </a:p>
        </p:txBody>
      </p:sp>
      <p:sp>
        <p:nvSpPr>
          <p:cNvPr id="4" name="Text 2"/>
          <p:cNvSpPr/>
          <p:nvPr/>
        </p:nvSpPr>
        <p:spPr>
          <a:xfrm>
            <a:off x="502920" y="1078992"/>
            <a:ext cx="6675120" cy="914400"/>
          </a:xfrm>
          <a:prstGeom prst="rect">
            <a:avLst/>
          </a:prstGeom>
          <a:noFill/>
          <a:ln/>
        </p:spPr>
        <p:txBody>
          <a:bodyPr wrap="square" lIns="0" tIns="0" rIns="0" bIns="0" rtlCol="0" anchor="ctr"/>
          <a:lstStyle/>
          <a:p>
            <a:pPr indent="0" marL="0">
              <a:lnSpc>
                <a:spcPts val="3600"/>
              </a:lnSpc>
              <a:buNone/>
            </a:pPr>
            <a:r>
              <a:rPr lang="en-US" sz="2800" b="1" dirty="0">
                <a:solidFill>
                  <a:srgbClr val="FFFFFF"/>
                </a:solidFill>
                <a:latin typeface="Cambria" pitchFamily="34" charset="0"/>
                <a:ea typeface="Cambria" pitchFamily="34" charset="-122"/>
                <a:cs typeface="Cambria" pitchFamily="34" charset="-120"/>
              </a:rPr>
              <a:t>Le sujet est validé par la concurrence.</a:t>
            </a:r>
            <a:endParaRPr lang="en-US" sz="2800" dirty="0"/>
          </a:p>
          <a:p>
            <a:pPr indent="0" marL="0">
              <a:lnSpc>
                <a:spcPts val="3600"/>
              </a:lnSpc>
              <a:buNone/>
            </a:pPr>
            <a:r>
              <a:rPr lang="en-US" sz="2800" b="1" dirty="0">
                <a:solidFill>
                  <a:srgbClr val="FFFFFF"/>
                </a:solidFill>
                <a:latin typeface="Cambria" pitchFamily="34" charset="0"/>
                <a:ea typeface="Cambria" pitchFamily="34" charset="-122"/>
                <a:cs typeface="Cambria" pitchFamily="34" charset="-120"/>
              </a:rPr>
              <a:t>Il reste à choisir la bonne case.</a:t>
            </a:r>
            <a:endParaRPr lang="en-US" sz="2800" dirty="0"/>
          </a:p>
        </p:txBody>
      </p:sp>
      <p:sp>
        <p:nvSpPr>
          <p:cNvPr id="5" name="Shape 3"/>
          <p:cNvSpPr/>
          <p:nvPr/>
        </p:nvSpPr>
        <p:spPr>
          <a:xfrm>
            <a:off x="502920" y="2212848"/>
            <a:ext cx="8138160" cy="603504"/>
          </a:xfrm>
          <a:prstGeom prst="roundRect">
            <a:avLst>
              <a:gd name="adj" fmla="val 9091"/>
            </a:avLst>
          </a:prstGeom>
          <a:solidFill>
            <a:srgbClr val="2E3873"/>
          </a:solidFill>
          <a:ln w="12700">
            <a:solidFill>
              <a:srgbClr val="333333"/>
            </a:solidFill>
            <a:prstDash val="solid"/>
          </a:ln>
        </p:spPr>
      </p:sp>
      <p:sp>
        <p:nvSpPr>
          <p:cNvPr id="6" name="Text 4"/>
          <p:cNvSpPr/>
          <p:nvPr/>
        </p:nvSpPr>
        <p:spPr>
          <a:xfrm>
            <a:off x="722376" y="2377440"/>
            <a:ext cx="2011680" cy="274320"/>
          </a:xfrm>
          <a:prstGeom prst="rect">
            <a:avLst/>
          </a:prstGeom>
          <a:noFill/>
          <a:ln/>
        </p:spPr>
        <p:txBody>
          <a:bodyPr wrap="square" lIns="0" tIns="0" rIns="0" bIns="0" rtlCol="0" anchor="ctr"/>
          <a:lstStyle/>
          <a:p>
            <a:pPr indent="0" marL="0">
              <a:buNone/>
            </a:pPr>
            <a:r>
              <a:rPr lang="en-US" sz="1250" b="1" dirty="0">
                <a:solidFill>
                  <a:srgbClr val="E8A33D"/>
                </a:solidFill>
                <a:latin typeface="Calibri" pitchFamily="34" charset="0"/>
                <a:ea typeface="Calibri" pitchFamily="34" charset="-122"/>
                <a:cs typeface="Calibri" pitchFamily="34" charset="-120"/>
              </a:rPr>
              <a:t>Acquis</a:t>
            </a:r>
            <a:endParaRPr lang="en-US" sz="1250" dirty="0"/>
          </a:p>
        </p:txBody>
      </p:sp>
      <p:sp>
        <p:nvSpPr>
          <p:cNvPr id="7" name="Text 5"/>
          <p:cNvSpPr/>
          <p:nvPr/>
        </p:nvSpPr>
        <p:spPr>
          <a:xfrm>
            <a:off x="2788920" y="2377440"/>
            <a:ext cx="5623560" cy="29260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Cartographie complète du domaine et identification du verrou réel</a:t>
            </a:r>
            <a:endParaRPr lang="en-US" sz="1250" dirty="0"/>
          </a:p>
        </p:txBody>
      </p:sp>
      <p:sp>
        <p:nvSpPr>
          <p:cNvPr id="8" name="Shape 6"/>
          <p:cNvSpPr/>
          <p:nvPr/>
        </p:nvSpPr>
        <p:spPr>
          <a:xfrm>
            <a:off x="502920" y="2926080"/>
            <a:ext cx="8138160" cy="603504"/>
          </a:xfrm>
          <a:prstGeom prst="roundRect">
            <a:avLst>
              <a:gd name="adj" fmla="val 9091"/>
            </a:avLst>
          </a:prstGeom>
          <a:solidFill>
            <a:srgbClr val="2E3873"/>
          </a:solidFill>
          <a:ln w="12700">
            <a:solidFill>
              <a:srgbClr val="333333"/>
            </a:solidFill>
            <a:prstDash val="solid"/>
          </a:ln>
        </p:spPr>
      </p:sp>
      <p:sp>
        <p:nvSpPr>
          <p:cNvPr id="9" name="Text 7"/>
          <p:cNvSpPr/>
          <p:nvPr/>
        </p:nvSpPr>
        <p:spPr>
          <a:xfrm>
            <a:off x="722376" y="3090672"/>
            <a:ext cx="2011680" cy="274320"/>
          </a:xfrm>
          <a:prstGeom prst="rect">
            <a:avLst/>
          </a:prstGeom>
          <a:noFill/>
          <a:ln/>
        </p:spPr>
        <p:txBody>
          <a:bodyPr wrap="square" lIns="0" tIns="0" rIns="0" bIns="0" rtlCol="0" anchor="ctr"/>
          <a:lstStyle/>
          <a:p>
            <a:pPr indent="0" marL="0">
              <a:buNone/>
            </a:pPr>
            <a:r>
              <a:rPr lang="en-US" sz="1250" b="1" dirty="0">
                <a:solidFill>
                  <a:srgbClr val="E8A33D"/>
                </a:solidFill>
                <a:latin typeface="Calibri" pitchFamily="34" charset="0"/>
                <a:ea typeface="Calibri" pitchFamily="34" charset="-122"/>
                <a:cs typeface="Calibri" pitchFamily="34" charset="-120"/>
              </a:rPr>
              <a:t>Décision demandée</a:t>
            </a:r>
            <a:endParaRPr lang="en-US" sz="1250" dirty="0"/>
          </a:p>
        </p:txBody>
      </p:sp>
      <p:sp>
        <p:nvSpPr>
          <p:cNvPr id="10" name="Text 8"/>
          <p:cNvSpPr/>
          <p:nvPr/>
        </p:nvSpPr>
        <p:spPr>
          <a:xfrm>
            <a:off x="2788920" y="3090672"/>
            <a:ext cx="5623560" cy="29260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Recentrer sur l'intersection hard-label × activations lisses</a:t>
            </a:r>
            <a:endParaRPr lang="en-US" sz="1250" dirty="0"/>
          </a:p>
        </p:txBody>
      </p:sp>
      <p:sp>
        <p:nvSpPr>
          <p:cNvPr id="11" name="Shape 9"/>
          <p:cNvSpPr/>
          <p:nvPr/>
        </p:nvSpPr>
        <p:spPr>
          <a:xfrm>
            <a:off x="502920" y="3639312"/>
            <a:ext cx="8138160" cy="603504"/>
          </a:xfrm>
          <a:prstGeom prst="roundRect">
            <a:avLst>
              <a:gd name="adj" fmla="val 9091"/>
            </a:avLst>
          </a:prstGeom>
          <a:solidFill>
            <a:srgbClr val="2E3873"/>
          </a:solidFill>
          <a:ln w="12700">
            <a:solidFill>
              <a:srgbClr val="333333"/>
            </a:solidFill>
            <a:prstDash val="solid"/>
          </a:ln>
        </p:spPr>
      </p:sp>
      <p:sp>
        <p:nvSpPr>
          <p:cNvPr id="12" name="Text 10"/>
          <p:cNvSpPr/>
          <p:nvPr/>
        </p:nvSpPr>
        <p:spPr>
          <a:xfrm>
            <a:off x="722376" y="3803904"/>
            <a:ext cx="2011680" cy="274320"/>
          </a:xfrm>
          <a:prstGeom prst="rect">
            <a:avLst/>
          </a:prstGeom>
          <a:noFill/>
          <a:ln/>
        </p:spPr>
        <p:txBody>
          <a:bodyPr wrap="square" lIns="0" tIns="0" rIns="0" bIns="0" rtlCol="0" anchor="ctr"/>
          <a:lstStyle/>
          <a:p>
            <a:pPr indent="0" marL="0">
              <a:buNone/>
            </a:pPr>
            <a:r>
              <a:rPr lang="en-US" sz="1250" b="1" dirty="0">
                <a:solidFill>
                  <a:srgbClr val="E8A33D"/>
                </a:solidFill>
                <a:latin typeface="Calibri" pitchFamily="34" charset="0"/>
                <a:ea typeface="Calibri" pitchFamily="34" charset="-122"/>
                <a:cs typeface="Calibri" pitchFamily="34" charset="-120"/>
              </a:rPr>
              <a:t>Prochain jalon</a:t>
            </a:r>
            <a:endParaRPr lang="en-US" sz="1250" dirty="0"/>
          </a:p>
        </p:txBody>
      </p:sp>
      <p:sp>
        <p:nvSpPr>
          <p:cNvPr id="13" name="Text 11"/>
          <p:cNvSpPr/>
          <p:nvPr/>
        </p:nvSpPr>
        <p:spPr>
          <a:xfrm>
            <a:off x="2788920" y="3803904"/>
            <a:ext cx="5623560" cy="29260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Frontière de décision en 2D pour GELU — une semaine, décide du WP3</a:t>
            </a:r>
            <a:endParaRPr lang="en-US" sz="1250" dirty="0"/>
          </a:p>
        </p:txBody>
      </p:sp>
      <p:sp>
        <p:nvSpPr>
          <p:cNvPr id="14" name="Text 12"/>
          <p:cNvSpPr/>
          <p:nvPr/>
        </p:nvSpPr>
        <p:spPr>
          <a:xfrm>
            <a:off x="502920" y="4407408"/>
            <a:ext cx="8138160" cy="320040"/>
          </a:xfrm>
          <a:prstGeom prst="rect">
            <a:avLst/>
          </a:prstGeom>
          <a:noFill/>
          <a:ln/>
        </p:spPr>
        <p:txBody>
          <a:bodyPr wrap="square" lIns="0" tIns="0" rIns="0" bIns="0" rtlCol="0" anchor="ctr"/>
          <a:lstStyle/>
          <a:p>
            <a:pPr indent="0" marL="0">
              <a:buNone/>
            </a:pPr>
            <a:r>
              <a:rPr lang="en-US" sz="1500" i="1" dirty="0">
                <a:solidFill>
                  <a:srgbClr val="C7D3E8"/>
                </a:solidFill>
                <a:latin typeface="Cambria" pitchFamily="34" charset="0"/>
                <a:ea typeface="Cambria" pitchFamily="34" charset="-122"/>
                <a:cs typeface="Cambria" pitchFamily="34" charset="-120"/>
              </a:rPr>
              <a:t>Merci — questions et orientations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2026-08-02T10:53:40Z</dcterms:created>
  <dcterms:modified xsi:type="dcterms:W3CDTF">2026-08-02T10:53:40Z</dcterms:modified>
</cp:coreProperties>
</file>